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4" r:id="rId10"/>
    <p:sldId id="265" r:id="rId11"/>
    <p:sldId id="269" r:id="rId12"/>
    <p:sldId id="266" r:id="rId13"/>
    <p:sldId id="270" r:id="rId14"/>
    <p:sldId id="271" r:id="rId15"/>
    <p:sldId id="267" r:id="rId16"/>
    <p:sldId id="274" r:id="rId17"/>
    <p:sldId id="277" r:id="rId18"/>
    <p:sldId id="278" r:id="rId19"/>
    <p:sldId id="295" r:id="rId20"/>
    <p:sldId id="279" r:id="rId21"/>
    <p:sldId id="280" r:id="rId22"/>
    <p:sldId id="281" r:id="rId23"/>
    <p:sldId id="282" r:id="rId24"/>
    <p:sldId id="290" r:id="rId25"/>
    <p:sldId id="283" r:id="rId26"/>
    <p:sldId id="297" r:id="rId27"/>
    <p:sldId id="284" r:id="rId28"/>
    <p:sldId id="289" r:id="rId29"/>
    <p:sldId id="285" r:id="rId30"/>
    <p:sldId id="292" r:id="rId31"/>
    <p:sldId id="286" r:id="rId32"/>
    <p:sldId id="291" r:id="rId33"/>
    <p:sldId id="293" r:id="rId34"/>
    <p:sldId id="294" r:id="rId35"/>
    <p:sldId id="29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60" autoAdjust="0"/>
  </p:normalViewPr>
  <p:slideViewPr>
    <p:cSldViewPr snapToGrid="0">
      <p:cViewPr>
        <p:scale>
          <a:sx n="75" d="100"/>
          <a:sy n="75" d="100"/>
        </p:scale>
        <p:origin x="9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4013E-C42E-4B73-823A-46C835937C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61265-4F73-4252-A836-9CECE7764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8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61265-4F73-4252-A836-9CECE7764AE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1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43BF-2D60-EEF3-D00D-4A606666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8453E-534B-257D-3B8F-759E212E5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FB05F-13E7-1C37-F01C-A59AEBE05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F3857-CB21-8F1F-CAA9-D1A0C0621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61265-4F73-4252-A836-9CECE7764AE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6C154-23D9-342E-811F-F1DB0113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50104-7DCA-DD4F-66D1-2FC2C9E2D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CE7E3-B8A4-6916-ED83-F3EB17D7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482D-5FFD-8CCD-085B-89941F67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BD7F8-2F05-BEA9-AD8A-B852FC66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36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1273-E59E-86E8-5E9F-82562956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B922-EC23-11BD-30C8-4777C0EB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BB8B-2A5B-7086-9008-2F6FEAAA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689A-BD1D-5441-8E06-45DFF49C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7F6AF-9DD9-1C86-D688-41BFECED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9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008B-1D1B-0B75-49B1-06E12084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D0CDA-DBE0-A6E7-33A7-023333F9B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180D-8337-8A6D-BEFA-59E5AC3B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40210-1451-F3DA-6D10-502C8AEC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D3EF0-085F-7A37-F2C7-EEDEA83D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D9E5-B40F-2AB2-28A3-90E3E144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5F42-FE0D-1740-573C-CFDFDB966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3492E-A54B-B432-C83E-1576912C4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C77F4-9DE2-42E0-012C-47FE2633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1CE9F-46D5-CA71-F5F9-F439C45C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E7869-268A-39D1-FD86-417C5F1F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4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981B-79AD-56BD-9F30-C7A9BCED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D044-2161-3BF0-1D3E-963044220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8D1DB-C32A-CF6D-CCCF-685B9B1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040D4-C4C8-3AFB-6119-58D01AFBE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CFE8A-ED47-E8EF-AC72-05E634ECD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07DD6-9D0B-0D74-06D0-4893B794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19F56-C573-DF00-F202-9A337D76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9525A-CD4C-D4B8-FFE2-383963C6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FBF-DF98-5F63-CDC7-DFCD665E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1805-B417-3D59-4523-52E69863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B4C8A-7CE8-26FD-29B6-E4B36DA8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88CD6-034E-3380-697C-079217A6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8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79EE0-2FBB-B9D6-811A-13132ED8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D0C71-BD3D-9BB7-2887-DB5B5A0B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9892-9D24-4AC5-DED2-54C026F0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39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B028-36B2-DD90-89F1-12F181CE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7312-0DC6-8543-C3D3-EDA13C071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A8E5-9433-5C81-B0D9-FB72ADA8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6510-ACE6-3C8B-D9FA-304F97ED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2C69D-5990-621C-BDE5-2AAC4A73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C99F4-A188-2ACB-79EF-4276789F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8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4503-772C-173C-2D4C-CEE39355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2682C-DF50-794C-F037-EF998F7F9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9C1B9-4283-AC3E-97E2-E4EDFFCD1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087FA-8633-DD66-D48D-4410528D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D48A7-107C-8BE6-3927-318343B0B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E8DFE-660B-00B3-578E-4AC02ED1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8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827F-6E7C-502B-4D12-E748CCAE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7C4E4-0E99-E217-349C-AC0087EE9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5EBE-4F2C-CB51-61FF-FD05C976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B3E44-EE7B-4C93-8A77-8A5ECF22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9D3F-07C6-448B-6D53-178CB16E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A18AA-8A67-ED3B-C2FC-647EB83E4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C80C7-0E88-4ACB-07AF-053D26722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0CCE-A9E6-9E39-4090-5F86CC2B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DB8AE-AF1A-71CC-3568-766B30C6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2C16-1D49-D4B6-55B0-4B64ADA6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6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CAE1B-1935-E35E-22D8-7FA8E8B5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1CC79-24FC-123F-30EC-1FF638AA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963C-1504-02F2-0766-9527C3D7E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4CB54-41B4-4233-812B-E351F30C0B2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62DBA-DFAC-81EF-EB4A-D5DABD8AF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0999A-B833-8BE2-7C61-C92F36AFD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3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ves.nseindia.com/content/equities/EQUITY_L.csv" TargetMode="External"/><Relationship Id="rId13" Type="http://schemas.openxmlformats.org/officeDocument/2006/relationships/hyperlink" Target="https://finance.yahoo.com/" TargetMode="External"/><Relationship Id="rId3" Type="http://schemas.openxmlformats.org/officeDocument/2006/relationships/hyperlink" Target="https://api.coingecko.com/api/v3/coins/markets" TargetMode="External"/><Relationship Id="rId7" Type="http://schemas.openxmlformats.org/officeDocument/2006/relationships/hyperlink" Target="https://gnews.io/api/v4/search" TargetMode="External"/><Relationship Id="rId12" Type="http://schemas.openxmlformats.org/officeDocument/2006/relationships/hyperlink" Target="https://www.moneycontrol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i.mfapi.in/mf" TargetMode="External"/><Relationship Id="rId11" Type="http://schemas.openxmlformats.org/officeDocument/2006/relationships/hyperlink" Target="https://www.angelone.in/" TargetMode="External"/><Relationship Id="rId5" Type="http://schemas.openxmlformats.org/officeDocument/2006/relationships/hyperlink" Target="https://query1.finance.yahoo.com/v8/finance/chart" TargetMode="External"/><Relationship Id="rId10" Type="http://schemas.openxmlformats.org/officeDocument/2006/relationships/hyperlink" Target="https://groww.in/" TargetMode="External"/><Relationship Id="rId4" Type="http://schemas.openxmlformats.org/officeDocument/2006/relationships/hyperlink" Target="https://finnhub.io/api/v1/calendar/ipo" TargetMode="External"/><Relationship Id="rId9" Type="http://schemas.openxmlformats.org/officeDocument/2006/relationships/hyperlink" Target="https://console.cloudinary.com/" TargetMode="External"/><Relationship Id="rId14" Type="http://schemas.openxmlformats.org/officeDocument/2006/relationships/hyperlink" Target="https://upstox.com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0A21F9-863D-7AD7-444A-E0CA717E5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79C0C45B-43CE-D297-911D-17CA9EC59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" y="349250"/>
            <a:ext cx="2743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686D4088-835E-46A8-A3A3-602D0FD6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0" y="121285"/>
            <a:ext cx="728503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Sarvajanik Education Society</a:t>
            </a:r>
            <a:r>
              <a:rPr lang="en-US" sz="12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
       </a:t>
            </a:r>
            <a:r>
              <a:rPr lang="en-US" sz="14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Sarvajanik College of Engineering &amp; Technology, Surat.
</a:t>
            </a:r>
            <a:r>
              <a:rPr lang="en-US" sz="16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Department of Computer Applications 
</a:t>
            </a:r>
            <a:r>
              <a:rPr lang="en-US" sz="14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Academic Year: 2025 – 26 </a:t>
            </a:r>
            <a:endParaRPr lang="en-US" altLang="en-US" sz="1100" dirty="0">
              <a:solidFill>
                <a:srgbClr val="4C4C4C"/>
              </a:solidFill>
              <a:latin typeface="+mj-lt"/>
            </a:endParaRP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78E55485-597E-D35F-EEAB-61E4C4703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1864360"/>
            <a:ext cx="685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 Project On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“InvestSphere”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Presented By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Anant Soni (ET24MTCA064)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M.C.A. II Sem. 4</a:t>
            </a: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Under the Guidance of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Prof. Zankhana Vaishnav 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426AC09-208C-0A8B-1AC9-4EDF5101AA9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858" y="381635"/>
            <a:ext cx="13843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58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77AA-23AB-9A9D-136E-25BFAC76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FF893A-2AA1-B519-DA34-6E4D8F590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FB95B8F-3AAC-59C1-A752-E3CE61EA4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04506" y="192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AGENDA</a:t>
            </a:r>
            <a:endParaRPr lang="en-US" altLang="en-US" sz="3500" b="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Shape 2">
            <a:extLst>
              <a:ext uri="{FF2B5EF4-FFF2-40B4-BE49-F238E27FC236}">
                <a16:creationId xmlns:a16="http://schemas.microsoft.com/office/drawing/2014/main" id="{3AC4208A-2E7F-8BC1-DDF8-CBDA4886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25" y="940765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Company Profile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System Description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Project Overview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Database Design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File System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Case Diagram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Interaction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Dictionary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Screen Shots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References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Shape 3">
            <a:extLst>
              <a:ext uri="{FF2B5EF4-FFF2-40B4-BE49-F238E27FC236}">
                <a16:creationId xmlns:a16="http://schemas.microsoft.com/office/drawing/2014/main" id="{DFFB997A-68A2-EBB6-4809-7D593833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altLang="zh-CN" dirty="0">
              <a:solidFill>
                <a:srgbClr val="4C4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864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F2B7-5BE7-DFDE-73AE-E5DAECE1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9FEDEA-DF05-3E8F-547E-E6E50B4CE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0A73C23-A3EA-946D-FE75-431FA35C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8035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 Company Profile: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BB317-5595-D24F-BF4C-A8EA901C9CA0}"/>
              </a:ext>
            </a:extLst>
          </p:cNvPr>
          <p:cNvSpPr txBox="1"/>
          <p:nvPr/>
        </p:nvSpPr>
        <p:spPr>
          <a:xfrm>
            <a:off x="162561" y="1110685"/>
            <a:ext cx="1202943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CODING HOUSE – Company Overview </a:t>
            </a:r>
          </a:p>
          <a:p>
            <a:r>
              <a:rPr lang="en-IN" dirty="0"/>
              <a:t>CODING HOUSE is a technology-driven software development company focused on building reliable, scalable, and user-centric digital solutions. We help startups, small businesses, and growing enterprises turn ideas into high-quality products using modern technologies and proven development practices. </a:t>
            </a:r>
          </a:p>
          <a:p>
            <a:endParaRPr lang="en-IN" dirty="0"/>
          </a:p>
          <a:p>
            <a:r>
              <a:rPr lang="en-IN" sz="2000" b="1" dirty="0"/>
              <a:t>What We Do:</a:t>
            </a:r>
          </a:p>
          <a:p>
            <a:r>
              <a:rPr lang="en-IN" dirty="0"/>
              <a:t>● Mobile App Development (Flutter, Android, iOS) </a:t>
            </a:r>
          </a:p>
          <a:p>
            <a:r>
              <a:rPr lang="en-IN" dirty="0"/>
              <a:t>● Web Development (React, Node.js, PHP, WordPress) </a:t>
            </a:r>
          </a:p>
          <a:p>
            <a:r>
              <a:rPr lang="en-IN" dirty="0"/>
              <a:t>● UI/UX Design (Figma-based, conversion-focused designs) </a:t>
            </a:r>
          </a:p>
          <a:p>
            <a:r>
              <a:rPr lang="en-IN" dirty="0"/>
              <a:t>● Custom Software Solutions </a:t>
            </a:r>
          </a:p>
          <a:p>
            <a:r>
              <a:rPr lang="en-IN" dirty="0"/>
              <a:t>● API Development &amp; Integrations </a:t>
            </a:r>
          </a:p>
          <a:p>
            <a:endParaRPr lang="en-IN" dirty="0"/>
          </a:p>
          <a:p>
            <a:r>
              <a:rPr lang="en-IN" sz="2000" b="1" dirty="0"/>
              <a:t>Our Approach: </a:t>
            </a:r>
          </a:p>
          <a:p>
            <a:r>
              <a:rPr lang="en-IN" dirty="0"/>
              <a:t>At CODING HOUSE, we follow a transparent and collaborative development process: </a:t>
            </a:r>
          </a:p>
          <a:p>
            <a:r>
              <a:rPr lang="en-IN" dirty="0"/>
              <a:t>● Clear understanding of client requirements </a:t>
            </a:r>
          </a:p>
          <a:p>
            <a:r>
              <a:rPr lang="en-IN" dirty="0"/>
              <a:t>● Structured planning and architecture</a:t>
            </a:r>
          </a:p>
          <a:p>
            <a:r>
              <a:rPr lang="en-IN" dirty="0"/>
              <a:t>● Agile development with regular updates</a:t>
            </a:r>
          </a:p>
        </p:txBody>
      </p:sp>
    </p:spTree>
    <p:extLst>
      <p:ext uri="{BB962C8B-B14F-4D97-AF65-F5344CB8AC3E}">
        <p14:creationId xmlns:p14="http://schemas.microsoft.com/office/powerpoint/2010/main" val="364383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DD299-C975-74BE-F6AD-CA1D8EDF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E7CED0-EC6C-E71A-8CA8-5E26876FC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0E516-4C7A-5345-8AD3-E97A2446A2A9}"/>
              </a:ext>
            </a:extLst>
          </p:cNvPr>
          <p:cNvSpPr txBox="1"/>
          <p:nvPr/>
        </p:nvSpPr>
        <p:spPr>
          <a:xfrm>
            <a:off x="223520" y="1233716"/>
            <a:ext cx="61772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Development Framework: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 developed using React.js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 built with Node.js and Express.js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RESTful APIs for seamless client-server communication</a:t>
            </a:r>
          </a:p>
          <a:p>
            <a:r>
              <a:rPr lang="en-IN" dirty="0"/>
              <a:t> </a:t>
            </a:r>
          </a:p>
          <a:p>
            <a:br>
              <a:rPr lang="en-IN" b="1" dirty="0"/>
            </a:br>
            <a:r>
              <a:rPr lang="en-IN" b="1" dirty="0"/>
              <a:t>UI / Frontend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Component-based architecture using React.js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Styled using Tailwind CSS for modern, responsive UI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Mobile-friendly and optimized user experience </a:t>
            </a:r>
          </a:p>
          <a:p>
            <a:endParaRPr lang="en-IN" dirty="0"/>
          </a:p>
          <a:p>
            <a:br>
              <a:rPr lang="en-IN" b="1" dirty="0"/>
            </a:br>
            <a:r>
              <a:rPr lang="en-IN" b="1" dirty="0"/>
              <a:t>Programming Language: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(ES6+) used across frontend and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Ensures consistency and faster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E8A7F-9170-2545-E00B-1E42EAF8481A}"/>
              </a:ext>
            </a:extLst>
          </p:cNvPr>
          <p:cNvSpPr txBox="1"/>
          <p:nvPr/>
        </p:nvSpPr>
        <p:spPr>
          <a:xfrm>
            <a:off x="6116320" y="1093044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MongoDB Atlas (Cloud Database) used for data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Investments Watchlists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Scalable and accessible from anywhere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Media Storage: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Cloudinary used for storing images and media 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 CDN delivery and optimized asset handling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Authentication &amp; Security: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OTP-based email authentication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login and user verification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JWT (JSON Web Token) for session management</a:t>
            </a:r>
          </a:p>
        </p:txBody>
      </p:sp>
      <p:sp>
        <p:nvSpPr>
          <p:cNvPr id="9" name="TextShape 1">
            <a:extLst>
              <a:ext uri="{FF2B5EF4-FFF2-40B4-BE49-F238E27FC236}">
                <a16:creationId xmlns:a16="http://schemas.microsoft.com/office/drawing/2014/main" id="{AB4809D9-F34B-F39F-88CA-7658C7A4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1475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System Description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28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80A5-5F1F-78EA-FBF5-AD49176C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91539C-8B76-1392-A022-83753AECA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Shape 1">
            <a:extLst>
              <a:ext uri="{FF2B5EF4-FFF2-40B4-BE49-F238E27FC236}">
                <a16:creationId xmlns:a16="http://schemas.microsoft.com/office/drawing/2014/main" id="{0E8EAA2D-5F2E-4257-795B-DA0693FB6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480" y="6353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Project Overview: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6BE0A-BA3A-06B7-5B98-13FA2857B753}"/>
              </a:ext>
            </a:extLst>
          </p:cNvPr>
          <p:cNvSpPr txBox="1"/>
          <p:nvPr/>
        </p:nvSpPr>
        <p:spPr>
          <a:xfrm>
            <a:off x="92597" y="2784007"/>
            <a:ext cx="12099402" cy="424731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lang="en-IN" b="1" dirty="0">
              <a:cs typeface="Arial" panose="020B0604020202020204" pitchFamily="34" charset="0"/>
            </a:endParaRPr>
          </a:p>
          <a:p>
            <a:endParaRPr lang="en-IN" b="1" dirty="0">
              <a:cs typeface="Arial" panose="020B0604020202020204" pitchFamily="34" charset="0"/>
            </a:endParaRPr>
          </a:p>
          <a:p>
            <a:r>
              <a:rPr lang="en-IN" sz="2000" b="1" dirty="0">
                <a:cs typeface="Arial" panose="020B0604020202020204" pitchFamily="34" charset="0"/>
              </a:rPr>
              <a:t>Core System Features</a:t>
            </a:r>
          </a:p>
          <a:p>
            <a:endParaRPr lang="en-IN" b="1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OTP-based Login &amp; Registration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Dashboard for SIP, Stocks &amp; IPO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Watchlist with real-time market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Reports &amp; Analytics for performance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Profile management with Cloudinary (image upload)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Data stored securely in MongoDB Atlas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API-based communication (Frontend ↔ Backend)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r>
              <a:rPr lang="en-US" sz="2000" b="1" dirty="0">
                <a:cs typeface="Arial" panose="020B0604020202020204" pitchFamily="34" charset="0"/>
              </a:rPr>
              <a:t>User Functional Capabilities</a:t>
            </a:r>
          </a:p>
          <a:p>
            <a:endParaRPr lang="en-US" b="1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Manage investments including SIP, Stocks, and IPOs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Add and track assets in a personalized watchlist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View real-time market data and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Access reports and analytics for 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Update profile details and upload images using Cloudinary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Secure authentication using OTP &amp; JWT</a:t>
            </a:r>
          </a:p>
        </p:txBody>
      </p:sp>
      <p:sp>
        <p:nvSpPr>
          <p:cNvPr id="17" name="TextShape 1">
            <a:extLst>
              <a:ext uri="{FF2B5EF4-FFF2-40B4-BE49-F238E27FC236}">
                <a16:creationId xmlns:a16="http://schemas.microsoft.com/office/drawing/2014/main" id="{ABC6D8BD-2CEE-8C81-547D-A1CC5876B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7" y="1327945"/>
            <a:ext cx="12326453" cy="151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InvestSphere is a MERN-based web application for managing and tracking investments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It provides a centralized platform to monitor 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Stocks, SIPs, IPOs, Market News and Watchlists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 with real-time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Built on a 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modular and scalable architecture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, ensuring high performance and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Includes secure authentication, data visualization, and interactive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Arial" panose="020B0604020202020204" pitchFamily="34" charset="0"/>
              </a:rPr>
              <a:t>Designed using scalable MERN architecture with cloud integration (MongoDB Atlas &amp; Cloudinary)</a:t>
            </a:r>
            <a:endParaRPr lang="en-US" b="0" i="0" dirty="0">
              <a:solidFill>
                <a:srgbClr val="0D0D0D"/>
              </a:solidFill>
              <a:effectLst/>
              <a:latin typeface="+mn-lt"/>
              <a:cs typeface="Arial" panose="020B0604020202020204" pitchFamily="34" charset="0"/>
            </a:endParaRPr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4C4C4C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7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1FCC-A751-F2C6-BE2E-DA0B3F1E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09AF5-D32E-4EFA-0444-97C884432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31BBD10-1BA0-4FCE-99EE-DE5B109FB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68411" y="6353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Database Design: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7DCF0-0B62-8B98-D895-8108428353B6}"/>
              </a:ext>
            </a:extLst>
          </p:cNvPr>
          <p:cNvSpPr/>
          <p:nvPr/>
        </p:nvSpPr>
        <p:spPr>
          <a:xfrm>
            <a:off x="-290524" y="1995061"/>
            <a:ext cx="4578176" cy="31085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2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 Name:   </a:t>
            </a:r>
          </a:p>
          <a:p>
            <a:pPr algn="ctr"/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IN" sz="2000" dirty="0"/>
              <a:t>investsphereDB</a:t>
            </a:r>
          </a:p>
          <a:p>
            <a:pPr algn="ctr"/>
            <a:endParaRPr lang="en-IN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Collection Name: </a:t>
            </a:r>
          </a:p>
          <a:p>
            <a:pPr algn="ctr"/>
            <a:endParaRPr lang="en-IN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1. </a:t>
            </a:r>
            <a:r>
              <a:rPr lang="en-IN" sz="2000" dirty="0"/>
              <a:t>Register (Users Table)</a:t>
            </a:r>
          </a:p>
          <a:p>
            <a:r>
              <a:rPr lang="en-IN" sz="2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2. </a:t>
            </a:r>
            <a:r>
              <a:rPr lang="en-IN" sz="2000" dirty="0"/>
              <a:t>Reports</a:t>
            </a:r>
          </a:p>
          <a:p>
            <a:r>
              <a:rPr lang="en-IN" sz="2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3.</a:t>
            </a:r>
            <a:r>
              <a:rPr lang="en-IN" sz="2000" dirty="0"/>
              <a:t>  Watchlists</a:t>
            </a:r>
            <a:endParaRPr lang="en-IN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84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9839-3EBA-A0B3-6869-00173E4D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4F8F14-3761-A046-708F-59F9CC66B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883628E-BC3D-96A8-C937-5714F304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56" y="4038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Register (Users Table)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76C48A-0F85-E696-C111-82ACBA636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1548"/>
              </p:ext>
            </p:extLst>
          </p:nvPr>
        </p:nvGraphicFramePr>
        <p:xfrm>
          <a:off x="1331088" y="1180813"/>
          <a:ext cx="9954228" cy="47454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18076">
                  <a:extLst>
                    <a:ext uri="{9D8B030D-6E8A-4147-A177-3AD203B41FA5}">
                      <a16:colId xmlns:a16="http://schemas.microsoft.com/office/drawing/2014/main" val="2564525623"/>
                    </a:ext>
                  </a:extLst>
                </a:gridCol>
                <a:gridCol w="3318076">
                  <a:extLst>
                    <a:ext uri="{9D8B030D-6E8A-4147-A177-3AD203B41FA5}">
                      <a16:colId xmlns:a16="http://schemas.microsoft.com/office/drawing/2014/main" val="2576632747"/>
                    </a:ext>
                  </a:extLst>
                </a:gridCol>
                <a:gridCol w="3318076">
                  <a:extLst>
                    <a:ext uri="{9D8B030D-6E8A-4147-A177-3AD203B41FA5}">
                      <a16:colId xmlns:a16="http://schemas.microsoft.com/office/drawing/2014/main" val="1122865578"/>
                    </a:ext>
                  </a:extLst>
                </a:gridCol>
              </a:tblGrid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Field Name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Data Type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Description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12863729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ObjectId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Unique user ID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312865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name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full name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102230036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email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email address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67293910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password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Encrypted password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07675354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phone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Contact number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1945496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country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country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30972114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state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22706869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Dob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Date of birth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8126085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PAN card number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40218292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Verified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Boolean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Email verification status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78409721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profileImage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Cloudinary image URL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7907302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profileImageId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Cloudinary public ID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55752080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createdAt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Account creation date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85498085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updatedAt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Last update date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42452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25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39A7-E658-A9C6-7AEC-903B82AA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2760A-0527-4411-9D39-69786B5E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88BD92-A2C3-6303-B030-6D9F037E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189186"/>
              </p:ext>
            </p:extLst>
          </p:nvPr>
        </p:nvGraphicFramePr>
        <p:xfrm>
          <a:off x="763929" y="1709909"/>
          <a:ext cx="10589871" cy="33366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29957">
                  <a:extLst>
                    <a:ext uri="{9D8B030D-6E8A-4147-A177-3AD203B41FA5}">
                      <a16:colId xmlns:a16="http://schemas.microsoft.com/office/drawing/2014/main" val="310602009"/>
                    </a:ext>
                  </a:extLst>
                </a:gridCol>
                <a:gridCol w="3529957">
                  <a:extLst>
                    <a:ext uri="{9D8B030D-6E8A-4147-A177-3AD203B41FA5}">
                      <a16:colId xmlns:a16="http://schemas.microsoft.com/office/drawing/2014/main" val="335219738"/>
                    </a:ext>
                  </a:extLst>
                </a:gridCol>
                <a:gridCol w="3529957">
                  <a:extLst>
                    <a:ext uri="{9D8B030D-6E8A-4147-A177-3AD203B41FA5}">
                      <a16:colId xmlns:a16="http://schemas.microsoft.com/office/drawing/2014/main" val="1671398286"/>
                    </a:ext>
                  </a:extLst>
                </a:gridCol>
              </a:tblGrid>
              <a:tr h="447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532917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report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762422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Issue title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278315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Issue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3130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4352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599197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Report created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821564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Last updated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415567"/>
                  </a:ext>
                </a:extLst>
              </a:tr>
            </a:tbl>
          </a:graphicData>
        </a:graphic>
      </p:graphicFrame>
      <p:sp>
        <p:nvSpPr>
          <p:cNvPr id="5" name="TextShape 1">
            <a:extLst>
              <a:ext uri="{FF2B5EF4-FFF2-40B4-BE49-F238E27FC236}">
                <a16:creationId xmlns:a16="http://schemas.microsoft.com/office/drawing/2014/main" id="{4733A227-B101-CA24-B262-85E25AA5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14709" y="15613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Reports</a:t>
            </a:r>
          </a:p>
        </p:txBody>
      </p:sp>
    </p:spTree>
    <p:extLst>
      <p:ext uri="{BB962C8B-B14F-4D97-AF65-F5344CB8AC3E}">
        <p14:creationId xmlns:p14="http://schemas.microsoft.com/office/powerpoint/2010/main" val="416700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2BDE-8BC7-97BE-3DF1-A3563701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9F572-9C91-06C6-C387-98C53E39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1A8389FA-7568-A5E0-B650-434E69A8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492" y="37605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Watchlists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10BE56-3627-1249-646F-17220F693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72178"/>
              </p:ext>
            </p:extLst>
          </p:nvPr>
        </p:nvGraphicFramePr>
        <p:xfrm>
          <a:off x="838200" y="1794076"/>
          <a:ext cx="10515600" cy="34492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807772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53621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50229"/>
                    </a:ext>
                  </a:extLst>
                </a:gridCol>
              </a:tblGrid>
              <a:tr h="462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414279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737562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098047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itemCode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Asset code (IPO/Stock)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540491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itemName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Asset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874746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Type (IPO / Stock / SIP)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48034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4314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Last updated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15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2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FBD7-9DF7-9589-4265-B527E437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D27D96-5469-32D2-4FBC-8CA02D923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B6AC916-659C-363B-01DC-3635AF17E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2907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File System: (Client)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B9283-3B94-26D9-3EA0-86E0946A8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3" y="1006997"/>
            <a:ext cx="11204293" cy="498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7811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F693-E75E-AF81-9E84-F98F7404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BE0030-E270-11D7-1390-93309EF9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41B46EB-5006-B067-7AAB-F57A7C6D8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5032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File System: (Server)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5B06-CF04-0FE3-3B86-9DB9CF500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27" y="1079210"/>
            <a:ext cx="11111697" cy="48817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756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45EB-44F0-DBA4-4163-028477E9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080B32-5742-4AA6-BAAC-27672E0D9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AB8BD00D-55FF-5F4F-0409-6DCAFB068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12320" y="-14249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Use Case Diagram: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CD6BD-A4A6-7403-EAE0-CDCC464D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3" t="4843"/>
          <a:stretch>
            <a:fillRect/>
          </a:stretch>
        </p:blipFill>
        <p:spPr>
          <a:xfrm>
            <a:off x="2554124" y="1005840"/>
            <a:ext cx="9195916" cy="5318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311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8C81-3957-422A-B579-29D742F4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3F4327-4EE4-EF5E-AFCA-E3FCD7BB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9E34E524-3DCB-ACE5-F16E-54282DB5D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18880" y="-1911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Class Diagram: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66593-2D84-0BF3-48BB-AE7F65095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50" y="848367"/>
            <a:ext cx="7741900" cy="51612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3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1D67C-83A6-DC19-2F53-080B7C2A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294E39-8780-AB8F-8A20-B86B8D4F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B4C962F9-6599-02CB-9434-A06D79D87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5032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Interaction 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EE4CA-6A65-006D-9C26-EB76A6E2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24" y="983848"/>
            <a:ext cx="10023676" cy="498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429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2A49-914D-29F2-B2A2-C24FB7C6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0F7257-6555-045B-2FD4-103FA13F5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DAD16606-5F17-94DA-C221-18E66C14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37001" y="-18102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Activity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3D80D-39F1-DC17-2FD3-8AB1C75B5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492626"/>
            <a:ext cx="4695685" cy="58727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2103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64C3-796C-EDD6-1769-587F7BB0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C5267-7769-E9C9-9E16-A3DD15ED5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1D750CB-EED4-6601-B9AE-5B90C7CFD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6202" y="26030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Data Dictionary: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318BF-D478-8F5D-BD11-F5D581DAF5FF}"/>
              </a:ext>
            </a:extLst>
          </p:cNvPr>
          <p:cNvSpPr txBox="1"/>
          <p:nvPr/>
        </p:nvSpPr>
        <p:spPr>
          <a:xfrm>
            <a:off x="254644" y="1690832"/>
            <a:ext cx="12191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User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Stores user account details like name, email, encrypted password, and profile image (Cloudinary).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Used for authentication, authorization, and maintaining user identity in the system.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2. Investment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Tracks all user investments including IPO, Stock, and SIP with amount and timestamps.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Helps users manage and monitor their portfolio in a centralized dashboard.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Watchlist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Stores assets that users want to track for future investment decisions.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Allows easy monitoring of IPOs, stocks, and SIPs without investing.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108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D8BF-065D-AF25-4229-8D377E57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BBD09-2282-FD21-8A2E-7D3EA7457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904F87BF-65AD-3B48-AD47-D51F85A1C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1559" y="10936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Registration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91EAD-1DBA-B6A0-8FB4-F7BBB57F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79" t="6054" r="10539" b="7153"/>
          <a:stretch>
            <a:fillRect/>
          </a:stretch>
        </p:blipFill>
        <p:spPr>
          <a:xfrm>
            <a:off x="5726870" y="358814"/>
            <a:ext cx="4655622" cy="625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TextShape 1">
            <a:extLst>
              <a:ext uri="{FF2B5EF4-FFF2-40B4-BE49-F238E27FC236}">
                <a16:creationId xmlns:a16="http://schemas.microsoft.com/office/drawing/2014/main" id="{0878FD3A-42C3-3FDF-316C-3F17D92E8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05609" y="10983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FF0000"/>
                </a:solidFill>
              </a:rPr>
              <a:t>Screenshots:</a:t>
            </a:r>
          </a:p>
        </p:txBody>
      </p:sp>
    </p:spTree>
    <p:extLst>
      <p:ext uri="{BB962C8B-B14F-4D97-AF65-F5344CB8AC3E}">
        <p14:creationId xmlns:p14="http://schemas.microsoft.com/office/powerpoint/2010/main" val="2690634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B36B-1BBD-8056-D823-D6640E76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A91EDC-2779-C623-A7FE-E8E6096D1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6816134-66BE-7564-A851-381D5E02C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Login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EF7CE-D611-8451-53C5-3FCE4BFF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8" y="1676605"/>
            <a:ext cx="3623232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1AE08-D7BE-E564-9681-098482E7C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628" y="1676605"/>
            <a:ext cx="3337089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7A819-1219-7057-850E-9C1B87B22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615" y="1676605"/>
            <a:ext cx="3431813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5767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4A80-FA5B-8F0D-2EF8-5C9381EE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9A305E-414F-2C2C-475C-AB5D5A04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3107CE5-5E2B-A907-654D-7E6599D5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04074" y="-16796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  User Profile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F592E-AB23-BB61-022E-4750A645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901530"/>
            <a:ext cx="8290560" cy="5052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288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87F8-F741-1ACC-0C6E-D4667377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52F596-B54C-2513-72C5-3DFBFEA8A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3858FD2A-2E12-C575-5417-401B8786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5E12E-4EA6-722F-2C2D-38800190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4" y="857839"/>
            <a:ext cx="10991655" cy="5175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26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A462-5B97-62B2-4AFF-B5688B57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06DA00-86EA-B2F7-0E7D-344712382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5E07D781-6479-DA7A-45D9-0EDEF323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1787" y="-28371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D6BBB-399B-DD20-0368-44CE0AED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35" y="678730"/>
            <a:ext cx="7719129" cy="548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5269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4333-D3F7-BD2C-6CAA-CAA372B7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5480-5FBC-7697-5035-D03F1F511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F108AC4-6563-79F7-A1C0-CF681462B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BF823-9C92-E52B-18D0-34B87DB5D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57" y="963438"/>
            <a:ext cx="5901181" cy="4931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6814E-DF5D-12CC-A919-349EC5890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346" y="963438"/>
            <a:ext cx="2419688" cy="22863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CCF337-E1E2-548E-D46D-68F083641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346" y="3429000"/>
            <a:ext cx="2419688" cy="24655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934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E829-3E71-4FBE-6763-61AF6901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875EDB-FE7D-8423-8D55-47F1F3E92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7CC5D09F-F8DF-A955-F08D-EA9F0CCF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SIP Page: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1422C-72C3-572B-E16E-A581DF88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7" y="963560"/>
            <a:ext cx="5742157" cy="4916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6713D-7917-F5BB-A20F-60C53143F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963561"/>
            <a:ext cx="5900178" cy="4916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8757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0191-4F54-1278-6BEE-BD677A9E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EFCFBD-0D0C-7346-05EB-95EE6362D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34C28B1-6A1F-FFBF-4BE6-EC6DF983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SIP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BE9C7-C236-C44E-4EE6-31DDE79F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0" y="970960"/>
            <a:ext cx="5971698" cy="4939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748F22-51F6-F308-0315-A9BCBB4BB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788" y="970960"/>
            <a:ext cx="5731027" cy="4958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5160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06EA-A03A-211B-CF03-0C82986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195449-C349-DD62-9526-2C3299DAB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EC034E6A-A44F-5DDF-A0F5-7DF138B20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28D00-B2EE-7CED-73A7-E153A8642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08" y="1044485"/>
            <a:ext cx="5966192" cy="4809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8311C6-01D5-4132-2083-2A511A296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710" y="1044484"/>
            <a:ext cx="5662478" cy="4809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2400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4C3C-B10D-CDF4-9246-C521B6A6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6A0F6A-8DD6-20E6-23C7-6E046528C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8E8A08F1-5FBB-5821-50E5-9C0D49839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13601-4D06-D091-60B3-683A4A5C9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00" y="937549"/>
            <a:ext cx="8194876" cy="48845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217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8824-284A-3FFE-6665-050D5E3C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EAC9B-C6DC-9D92-8D0B-E4D85C668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12228A8-8836-EF39-DE72-AC5D2AEA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IPO Page: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E007CA-BEF3-5F89-B835-68626006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3" y="952107"/>
            <a:ext cx="5766710" cy="48548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7CFF9-196A-2FB9-569F-AB5F62F76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92" y="952106"/>
            <a:ext cx="6099743" cy="48548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2613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113F-517D-C15D-C674-2570FB1A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4BD61-9740-5546-25D3-D49698A62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CACDF15-0534-DDE1-B6E4-BAAFAF36A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IPO Page: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E255F-89DF-DF5B-EC2A-AD608CFAD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5" y="942678"/>
            <a:ext cx="5789783" cy="4986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CADD9-BBBB-807A-78BF-4465CD11B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64" y="942678"/>
            <a:ext cx="6020587" cy="49867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5559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2725F-BB06-EE08-353E-16BA5538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8A026-40A1-96D1-A398-55246837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4420221-B89B-35E7-50DD-1BBA4BEAB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EA402-ADCE-7702-1456-6591E796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23" y="995939"/>
            <a:ext cx="5876777" cy="4866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AEFD07-44E6-6F15-8CC9-CBF8C5E55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55" y="995939"/>
            <a:ext cx="5798608" cy="48661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3492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EF4A-9DDF-CAE0-5C2C-8D423BD0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8D8F57-C5B8-32A0-0178-B5BF447FE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ADEA42F-C2FF-1A45-A1CB-FA970F4BE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10131" y="5658"/>
            <a:ext cx="1127122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(Stock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DD54D-08C2-3FAC-3F78-9A26CE4A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50" y="1044484"/>
            <a:ext cx="10357299" cy="4847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7685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AB79-5446-6668-50A0-E7F4F859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922983-A036-D886-A199-20233E11F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CF24747F-B7E3-E0D5-488A-F372921DE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2728" y="-63790"/>
            <a:ext cx="107850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(SIP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4089B-47DA-5347-8A24-D0E3FD6CC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351" y="915924"/>
            <a:ext cx="7917083" cy="49852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4388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4718-0AB4-5426-1A7C-8AF73C4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24B6A7-4EC1-FE61-D0C5-1D5E25412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8662C3B7-E5CE-63B7-4811-2933B8542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8328" y="-29066"/>
            <a:ext cx="944242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(IPO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6AD6E-5DE8-5629-6127-FE071733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80" y="1044485"/>
            <a:ext cx="10048974" cy="4837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6748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E0DB-7C7E-2DF7-D5EF-9E27D508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A90048-58AA-0272-3EC9-2EBF40490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5B65B00-C824-7EAF-8D04-A92052BCD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1559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Market News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5F72D-119A-342E-EC10-94EF48554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31" y="1051555"/>
            <a:ext cx="5935744" cy="4685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A82AD-891B-BA67-D7CB-681D9BFE1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21" y="1051555"/>
            <a:ext cx="5982880" cy="46851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6409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C664-BA91-EEFB-D1CA-1EE72F3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25632-7068-14EE-2F6A-07C65367C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3F0DF3D8-FCDE-AF37-D635-FF0EE6E3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1493" y="21400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3500" b="1" dirty="0"/>
              <a:t>API References &amp; Integrations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1AB28-A8E5-C8AA-826D-EC3699B07017}"/>
              </a:ext>
            </a:extLst>
          </p:cNvPr>
          <p:cNvSpPr txBox="1"/>
          <p:nvPr/>
        </p:nvSpPr>
        <p:spPr>
          <a:xfrm>
            <a:off x="364603" y="1169575"/>
            <a:ext cx="11781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Crypto &amp; Gold API </a:t>
            </a:r>
            <a:r>
              <a:rPr lang="en-IN" sz="2000" dirty="0">
                <a:hlinkClick r:id="rId3"/>
              </a:rPr>
              <a:t>https://api.coingecko.com/api/v3/coins/markets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IPO Data API - </a:t>
            </a:r>
            <a:r>
              <a:rPr lang="en-IN" sz="2000" dirty="0">
                <a:hlinkClick r:id="rId4"/>
              </a:rPr>
              <a:t>https://finnhub.io/api/v1/calendar/ipo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Stock Market Data API - </a:t>
            </a:r>
            <a:r>
              <a:rPr lang="en-IN" sz="2000" dirty="0">
                <a:hlinkClick r:id="rId5"/>
              </a:rPr>
              <a:t>https://query1.finance.yahoo.com/v8/finance/chart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SIP / Mutual Fund API - </a:t>
            </a:r>
            <a:r>
              <a:rPr lang="en-IN" sz="2000" dirty="0">
                <a:hlinkClick r:id="rId6"/>
              </a:rPr>
              <a:t>https://api.mfapi.in/mf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Market News API - </a:t>
            </a:r>
            <a:r>
              <a:rPr lang="en-IN" sz="2000" dirty="0">
                <a:hlinkClick r:id="rId7"/>
              </a:rPr>
              <a:t>https://gnews.io/api/v4/search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NSE Stock List Data - </a:t>
            </a:r>
            <a:r>
              <a:rPr lang="en-IN" sz="2000" dirty="0">
                <a:hlinkClick r:id="rId8"/>
              </a:rPr>
              <a:t>https://archives.nseindia.com/content/equities/EQUITY_L.csv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Cloud Storage (Images) - </a:t>
            </a:r>
            <a:r>
              <a:rPr lang="en-IN" sz="2000" dirty="0">
                <a:hlinkClick r:id="rId9"/>
              </a:rPr>
              <a:t>https://console.cloudinary.com/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BEB8114B-B2AA-B423-505D-36E1ADDE0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43" y="324849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3500" b="1" dirty="0"/>
              <a:t>Additional Reference Platforms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9BA37-EB3A-08C1-04BD-097FA3C62125}"/>
              </a:ext>
            </a:extLst>
          </p:cNvPr>
          <p:cNvSpPr txBox="1"/>
          <p:nvPr/>
        </p:nvSpPr>
        <p:spPr>
          <a:xfrm>
            <a:off x="399328" y="4169343"/>
            <a:ext cx="11781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Grow Platform - </a:t>
            </a:r>
            <a:r>
              <a:rPr lang="en-IN" sz="2000" dirty="0">
                <a:hlinkClick r:id="rId10"/>
              </a:rPr>
              <a:t>https://groww.in/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Angel One - </a:t>
            </a:r>
            <a:r>
              <a:rPr lang="en-IN" sz="2000" dirty="0">
                <a:hlinkClick r:id="rId11"/>
              </a:rPr>
              <a:t>https://www.angelone.in/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Moneycontrol - </a:t>
            </a:r>
            <a:r>
              <a:rPr lang="en-IN" sz="2000" dirty="0">
                <a:hlinkClick r:id="rId12"/>
              </a:rPr>
              <a:t>https://www.moneycontrol.com/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Yahoo Finance - </a:t>
            </a:r>
            <a:r>
              <a:rPr lang="en-IN" sz="2000" dirty="0">
                <a:hlinkClick r:id="rId13"/>
              </a:rPr>
              <a:t>https://finance.yahoo.com/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Upstox - </a:t>
            </a:r>
            <a:r>
              <a:rPr lang="en-IN" sz="2000" dirty="0">
                <a:hlinkClick r:id="rId14"/>
              </a:rPr>
              <a:t>https://upstox.com/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58621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5257-0022-3528-B8F2-BA48D1BE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DBDD1-50D5-0A09-F21A-E2AA36A45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4608EB01-44BF-04A0-A1E2-41D518E52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469" y="2750777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7000" b="1" dirty="0">
                <a:solidFill>
                  <a:srgbClr val="FF0000"/>
                </a:solidFill>
              </a:rPr>
              <a:t>Thank You.</a:t>
            </a:r>
            <a:endParaRPr lang="en-US" altLang="en-US" sz="7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83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1116</Words>
  <Application>Microsoft Office PowerPoint</Application>
  <PresentationFormat>Widescreen</PresentationFormat>
  <Paragraphs>261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 soni</dc:creator>
  <cp:lastModifiedBy>Anant soni</cp:lastModifiedBy>
  <cp:revision>35</cp:revision>
  <dcterms:created xsi:type="dcterms:W3CDTF">2026-03-30T09:50:27Z</dcterms:created>
  <dcterms:modified xsi:type="dcterms:W3CDTF">2026-04-02T08:27:36Z</dcterms:modified>
</cp:coreProperties>
</file>