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7"/>
  </p:notesMasterIdLst>
  <p:sldIdLst>
    <p:sldId id="256" r:id="rId2"/>
    <p:sldId id="257" r:id="rId3"/>
    <p:sldId id="258" r:id="rId4"/>
    <p:sldId id="260" r:id="rId5"/>
    <p:sldId id="261" r:id="rId6"/>
    <p:sldId id="262" r:id="rId7"/>
    <p:sldId id="268" r:id="rId8"/>
    <p:sldId id="263" r:id="rId9"/>
    <p:sldId id="264" r:id="rId10"/>
    <p:sldId id="265" r:id="rId11"/>
    <p:sldId id="269" r:id="rId12"/>
    <p:sldId id="266" r:id="rId13"/>
    <p:sldId id="270" r:id="rId14"/>
    <p:sldId id="271" r:id="rId15"/>
    <p:sldId id="267" r:id="rId16"/>
    <p:sldId id="274" r:id="rId17"/>
    <p:sldId id="275" r:id="rId18"/>
    <p:sldId id="273" r:id="rId19"/>
    <p:sldId id="277" r:id="rId20"/>
    <p:sldId id="278" r:id="rId21"/>
    <p:sldId id="295" r:id="rId22"/>
    <p:sldId id="279" r:id="rId23"/>
    <p:sldId id="280" r:id="rId24"/>
    <p:sldId id="281" r:id="rId25"/>
    <p:sldId id="282" r:id="rId26"/>
    <p:sldId id="290" r:id="rId27"/>
    <p:sldId id="283" r:id="rId28"/>
    <p:sldId id="284" r:id="rId29"/>
    <p:sldId id="289" r:id="rId30"/>
    <p:sldId id="285" r:id="rId31"/>
    <p:sldId id="292" r:id="rId32"/>
    <p:sldId id="286" r:id="rId33"/>
    <p:sldId id="291" r:id="rId34"/>
    <p:sldId id="293" r:id="rId35"/>
    <p:sldId id="294" r:id="rId3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9760" autoAdjust="0"/>
  </p:normalViewPr>
  <p:slideViewPr>
    <p:cSldViewPr snapToGrid="0">
      <p:cViewPr>
        <p:scale>
          <a:sx n="75" d="100"/>
          <a:sy n="75" d="100"/>
        </p:scale>
        <p:origin x="1205" y="9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EF4013E-C42E-4B73-823A-46C835937C42}" type="datetimeFigureOut">
              <a:rPr lang="en-IN" smtClean="0"/>
              <a:t>31-03-2026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A761265-4F73-4252-A836-9CECE7764AE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486872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A761265-4F73-4252-A836-9CECE7764AE7}" type="slidenum">
              <a:rPr lang="en-IN" smtClean="0"/>
              <a:t>27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826128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66C154-23D9-342E-811F-F1DB011368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AE50104-7DCA-DD4F-66D1-2FC2C9E2D87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5CE7E3-B8A4-6916-ED83-F3EB17D7DF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4CB54-41B4-4233-812B-E351F30C0B25}" type="datetimeFigureOut">
              <a:rPr lang="en-IN" smtClean="0"/>
              <a:t>31-03-2026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D3482D-5FFD-8CCD-085B-89941F67BE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EBD7F8-2F05-BEA9-AD8A-B852FC66F5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0DDA0-6F0F-4570-BC0C-4D655C8D8F7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573643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651273-E59E-86E8-5E9F-8256295624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F2B922-EC23-11BD-30C8-4777C0EB46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B8BB8B-2A5B-7086-9008-2F6FEAAAA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4CB54-41B4-4233-812B-E351F30C0B25}" type="datetimeFigureOut">
              <a:rPr lang="en-IN" smtClean="0"/>
              <a:t>31-03-2026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3D689A-BD1D-5441-8E06-45DFF49C92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77F6AF-9DD9-1C86-D688-41BFECED8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0DDA0-6F0F-4570-BC0C-4D655C8D8F7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557997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1E008B-1D1B-0B75-49B1-06E12084B0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2D0CDA-DBE0-A6E7-33A7-023333F9B3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19180D-8337-8A6D-BEFA-59E5AC3B4F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4CB54-41B4-4233-812B-E351F30C0B25}" type="datetimeFigureOut">
              <a:rPr lang="en-IN" smtClean="0"/>
              <a:t>31-03-2026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E40210-1451-F3DA-6D10-502C8AECD3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8D3EF0-085F-7A37-F2C7-EEDEA83DD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0DDA0-6F0F-4570-BC0C-4D655C8D8F7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1199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4D9E5-B40F-2AB2-28A3-90E3E1440E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2A5F42-FE0D-1740-573C-CFDFDB96631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AA3492E-A54B-B432-C83E-1576912C40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9C77F4-9DE2-42E0-012C-47FE263373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4CB54-41B4-4233-812B-E351F30C0B25}" type="datetimeFigureOut">
              <a:rPr lang="en-IN" smtClean="0"/>
              <a:t>31-03-2026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D1CE9F-46D5-CA71-F5F9-F439C45C6C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23E7869-268A-39D1-FD86-417C5F1F75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0DDA0-6F0F-4570-BC0C-4D655C8D8F7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70449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4D981B-79AD-56BD-9F30-C7A9BCEDC6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7DD044-2161-3BF0-1D3E-963044220F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88D1DB-C32A-CF6D-CCCF-685B9B138A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B040D4-C4C8-3AFB-6119-58D01AFBED1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FECFE8A-ED47-E8EF-AC72-05E634ECD72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5307DD6-9D0B-0D74-06D0-4893B79400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4CB54-41B4-4233-812B-E351F30C0B25}" type="datetimeFigureOut">
              <a:rPr lang="en-IN" smtClean="0"/>
              <a:t>31-03-2026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1019F56-C573-DF00-F202-9A337D76C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D69525A-CD4C-D4B8-FFE2-383963C6A6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0DDA0-6F0F-4570-BC0C-4D655C8D8F7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004344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3AFBF-DF98-5F63-CDC7-DFCD665EFF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511805-B417-3D59-4523-52E69863F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4CB54-41B4-4233-812B-E351F30C0B25}" type="datetimeFigureOut">
              <a:rPr lang="en-IN" smtClean="0"/>
              <a:t>31-03-2026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BB4C8A-7CE8-26FD-29B6-E4B36DA8F7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788CD6-034E-3380-697C-079217A619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0DDA0-6F0F-4570-BC0C-4D655C8D8F7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69822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2079EE0-2FBB-B9D6-811A-13132ED85B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4CB54-41B4-4233-812B-E351F30C0B25}" type="datetimeFigureOut">
              <a:rPr lang="en-IN" smtClean="0"/>
              <a:t>31-03-2026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B0D0C71-BD3D-9BB7-2887-DB5B5A0B7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E79892-9D24-4AC5-DED2-54C026F012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0DDA0-6F0F-4570-BC0C-4D655C8D8F7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713951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4FB028-36B2-DD90-89F1-12F181CEC7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B77312-0DC6-8543-C3D3-EDA13C0717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C9A8E5-9433-5C81-B0D9-FB72ADA871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DB6510-ACE6-3C8B-D9FA-304F97EDD8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4CB54-41B4-4233-812B-E351F30C0B25}" type="datetimeFigureOut">
              <a:rPr lang="en-IN" smtClean="0"/>
              <a:t>31-03-2026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B2C69D-5990-621C-BDE5-2AAC4A73C5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69C99F4-A188-2ACB-79EF-4276789F5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0DDA0-6F0F-4570-BC0C-4D655C8D8F7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492829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284503-772C-173C-2D4C-CEE39355F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CE2682C-DF50-794C-F037-EF998F7F940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39C1B9-4283-AC3E-97E2-E4EDFFCD1F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8087FA-8633-DD66-D48D-4410528D63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4CB54-41B4-4233-812B-E351F30C0B25}" type="datetimeFigureOut">
              <a:rPr lang="en-IN" smtClean="0"/>
              <a:t>31-03-2026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6D48A7-107C-8BE6-3927-318343B0B1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9E8DFE-660B-00B3-578E-4AC02ED11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0DDA0-6F0F-4570-BC0C-4D655C8D8F7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516847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89827F-6E7C-502B-4D12-E748CCAE5E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2A7C4E4-0E99-E217-349C-AC0087EE9C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5C5EBE-4F2C-CB51-61FF-FD05C9760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4CB54-41B4-4233-812B-E351F30C0B25}" type="datetimeFigureOut">
              <a:rPr lang="en-IN" smtClean="0"/>
              <a:t>31-03-2026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EB3E44-EE7B-4C93-8A77-8A5ECF2270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BA9D3F-07C6-448B-6D53-178CB16E7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0DDA0-6F0F-4570-BC0C-4D655C8D8F7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21662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85A18AA-8A67-ED3B-C2FC-647EB83E43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BCC80C7-0E88-4ACB-07AF-053D267220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FE0CCE-A9E6-9E39-4090-5F86CC2BED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4CB54-41B4-4233-812B-E351F30C0B25}" type="datetimeFigureOut">
              <a:rPr lang="en-IN" smtClean="0"/>
              <a:t>31-03-2026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0DB8AE-AF1A-71CC-3568-766B30C675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332C16-1D49-D4B6-55B0-4B64ADA6CD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0DDA0-6F0F-4570-BC0C-4D655C8D8F7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106287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CCAE1B-1935-E35E-22D8-7FA8E8B5D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81CC79-24FC-123F-30EC-1FF638AA5F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FC963C-1504-02F2-0766-9527C3D7E1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F4CB54-41B4-4233-812B-E351F30C0B25}" type="datetimeFigureOut">
              <a:rPr lang="en-IN" smtClean="0"/>
              <a:t>31-03-2026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862DBA-DFAC-81EF-EB4A-D5DABD8AF7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80999A-B833-8BE2-7C61-C92F36AFDE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80DDA0-6F0F-4570-BC0C-4D655C8D8F7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351393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6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C0A21F9-863D-7AD7-444A-E0CA717E5D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1">
            <a:extLst>
              <a:ext uri="{FF2B5EF4-FFF2-40B4-BE49-F238E27FC236}">
                <a16:creationId xmlns:a16="http://schemas.microsoft.com/office/drawing/2014/main" id="{79C0C45B-43CE-D297-911D-17CA9EC594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040" y="349250"/>
            <a:ext cx="2743200" cy="1371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TextShape 1">
            <a:extLst>
              <a:ext uri="{FF2B5EF4-FFF2-40B4-BE49-F238E27FC236}">
                <a16:creationId xmlns:a16="http://schemas.microsoft.com/office/drawing/2014/main" id="{686D4088-835E-46A8-A3A3-602D0FD640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12290" y="121285"/>
            <a:ext cx="7285038" cy="1752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defRPr/>
            </a:pPr>
            <a:r>
              <a:rPr lang="en-US" sz="1200" b="1" dirty="0">
                <a:solidFill>
                  <a:srgbClr val="000000"/>
                </a:solidFill>
                <a:latin typeface="+mj-lt"/>
                <a:sym typeface="Calibri" panose="020F0502020204030204" pitchFamily="34" charset="0"/>
              </a:rPr>
              <a:t>Sarvajanik Education Society</a:t>
            </a:r>
            <a:r>
              <a:rPr lang="en-US" sz="1200" dirty="0">
                <a:solidFill>
                  <a:srgbClr val="000000"/>
                </a:solidFill>
                <a:latin typeface="+mj-lt"/>
                <a:sym typeface="Calibri" panose="020F0502020204030204" pitchFamily="34" charset="0"/>
              </a:rPr>
              <a:t>
       </a:t>
            </a:r>
            <a:r>
              <a:rPr lang="en-US" sz="1400" b="1" dirty="0">
                <a:solidFill>
                  <a:srgbClr val="000000"/>
                </a:solidFill>
                <a:latin typeface="+mj-lt"/>
                <a:sym typeface="Calibri" panose="020F0502020204030204" pitchFamily="34" charset="0"/>
              </a:rPr>
              <a:t>Sarvajanik College of Engineering &amp; Technology, Surat.
</a:t>
            </a:r>
            <a:r>
              <a:rPr lang="en-US" sz="1600" b="1" dirty="0">
                <a:solidFill>
                  <a:srgbClr val="000000"/>
                </a:solidFill>
                <a:latin typeface="+mj-lt"/>
                <a:sym typeface="Calibri" panose="020F0502020204030204" pitchFamily="34" charset="0"/>
              </a:rPr>
              <a:t>Department of Computer Applications 
</a:t>
            </a:r>
            <a:r>
              <a:rPr lang="en-US" sz="1400" b="1" dirty="0">
                <a:solidFill>
                  <a:srgbClr val="000000"/>
                </a:solidFill>
                <a:latin typeface="+mj-lt"/>
                <a:sym typeface="Calibri" panose="020F0502020204030204" pitchFamily="34" charset="0"/>
              </a:rPr>
              <a:t>Academic Year: 2025 – 26 </a:t>
            </a:r>
            <a:endParaRPr lang="en-US" altLang="en-US" sz="1100" dirty="0">
              <a:solidFill>
                <a:srgbClr val="4C4C4C"/>
              </a:solidFill>
              <a:latin typeface="+mj-lt"/>
            </a:endParaRPr>
          </a:p>
        </p:txBody>
      </p:sp>
      <p:sp>
        <p:nvSpPr>
          <p:cNvPr id="7" name="TextShape 2">
            <a:extLst>
              <a:ext uri="{FF2B5EF4-FFF2-40B4-BE49-F238E27FC236}">
                <a16:creationId xmlns:a16="http://schemas.microsoft.com/office/drawing/2014/main" id="{78E55485-597E-D35F-EEAB-61E4C4703B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79040" y="1864360"/>
            <a:ext cx="6858000" cy="480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defRPr/>
            </a:pPr>
            <a:endParaRPr lang="en-US" altLang="zh-CN" sz="1400" dirty="0">
              <a:solidFill>
                <a:srgbClr val="4C4C4C"/>
              </a:solidFill>
              <a:latin typeface="+mj-lt"/>
            </a:endParaRPr>
          </a:p>
          <a:p>
            <a:pPr algn="ctr">
              <a:defRPr/>
            </a:pPr>
            <a:r>
              <a:rPr lang="en-US" altLang="zh-CN" sz="2000" dirty="0">
                <a:solidFill>
                  <a:srgbClr val="000000"/>
                </a:solidFill>
                <a:latin typeface="+mj-lt"/>
                <a:sym typeface="Calibri" panose="020F0502020204030204" pitchFamily="34" charset="0"/>
              </a:rPr>
              <a:t>A Project On</a:t>
            </a:r>
            <a:endParaRPr lang="en-US" altLang="zh-CN" sz="1400" dirty="0">
              <a:solidFill>
                <a:srgbClr val="4C4C4C"/>
              </a:solidFill>
              <a:latin typeface="+mj-lt"/>
            </a:endParaRPr>
          </a:p>
          <a:p>
            <a:pPr algn="ctr">
              <a:defRPr/>
            </a:pPr>
            <a:r>
              <a:rPr lang="en-US" altLang="zh-CN" sz="2000" b="1" dirty="0">
                <a:solidFill>
                  <a:srgbClr val="000000"/>
                </a:solidFill>
                <a:latin typeface="+mj-lt"/>
                <a:sym typeface="Calibri" panose="020F0502020204030204" pitchFamily="34" charset="0"/>
              </a:rPr>
              <a:t>“InvestSphere”</a:t>
            </a:r>
            <a:endParaRPr lang="en-US" altLang="zh-CN" sz="1400" dirty="0">
              <a:solidFill>
                <a:srgbClr val="4C4C4C"/>
              </a:solidFill>
              <a:latin typeface="+mj-lt"/>
            </a:endParaRPr>
          </a:p>
          <a:p>
            <a:pPr algn="ctr">
              <a:defRPr/>
            </a:pPr>
            <a:endParaRPr lang="en-US" altLang="zh-CN" sz="1400" dirty="0">
              <a:solidFill>
                <a:srgbClr val="4C4C4C"/>
              </a:solidFill>
              <a:latin typeface="+mj-lt"/>
            </a:endParaRPr>
          </a:p>
          <a:p>
            <a:pPr algn="ctr">
              <a:defRPr/>
            </a:pPr>
            <a:endParaRPr lang="en-US" altLang="zh-CN" sz="1400" dirty="0">
              <a:solidFill>
                <a:srgbClr val="4C4C4C"/>
              </a:solidFill>
              <a:latin typeface="+mj-lt"/>
            </a:endParaRPr>
          </a:p>
          <a:p>
            <a:pPr algn="ctr">
              <a:defRPr/>
            </a:pPr>
            <a:endParaRPr lang="en-US" altLang="zh-CN" sz="1400" dirty="0">
              <a:solidFill>
                <a:srgbClr val="4C4C4C"/>
              </a:solidFill>
              <a:latin typeface="+mj-lt"/>
            </a:endParaRPr>
          </a:p>
          <a:p>
            <a:pPr algn="ctr">
              <a:defRPr/>
            </a:pPr>
            <a:endParaRPr lang="en-US" altLang="zh-CN" sz="1400" dirty="0">
              <a:solidFill>
                <a:srgbClr val="4C4C4C"/>
              </a:solidFill>
              <a:latin typeface="+mj-lt"/>
            </a:endParaRPr>
          </a:p>
          <a:p>
            <a:pPr algn="ctr">
              <a:defRPr/>
            </a:pPr>
            <a:endParaRPr lang="en-US" altLang="zh-CN" sz="1400" dirty="0">
              <a:solidFill>
                <a:srgbClr val="4C4C4C"/>
              </a:solidFill>
              <a:latin typeface="+mj-lt"/>
            </a:endParaRPr>
          </a:p>
          <a:p>
            <a:pPr algn="ctr">
              <a:defRPr/>
            </a:pPr>
            <a:r>
              <a:rPr lang="en-US" altLang="zh-CN" sz="2000" b="1" dirty="0">
                <a:solidFill>
                  <a:srgbClr val="000000"/>
                </a:solidFill>
                <a:latin typeface="+mj-lt"/>
                <a:sym typeface="Calibri" panose="020F0502020204030204" pitchFamily="34" charset="0"/>
              </a:rPr>
              <a:t>Presented By</a:t>
            </a:r>
            <a:endParaRPr lang="en-US" altLang="zh-CN" sz="1400" dirty="0">
              <a:solidFill>
                <a:srgbClr val="4C4C4C"/>
              </a:solidFill>
              <a:latin typeface="+mj-lt"/>
            </a:endParaRPr>
          </a:p>
          <a:p>
            <a:pPr algn="ctr">
              <a:defRPr/>
            </a:pPr>
            <a:r>
              <a:rPr lang="en-US" altLang="zh-CN" sz="2000" dirty="0">
                <a:solidFill>
                  <a:srgbClr val="000000"/>
                </a:solidFill>
                <a:latin typeface="+mj-lt"/>
                <a:sym typeface="Calibri" panose="020F0502020204030204" pitchFamily="34" charset="0"/>
              </a:rPr>
              <a:t>Anant Soni (ET24MTCA064)</a:t>
            </a:r>
            <a:endParaRPr lang="en-US" altLang="zh-CN" sz="1400" dirty="0">
              <a:solidFill>
                <a:srgbClr val="4C4C4C"/>
              </a:solidFill>
              <a:latin typeface="+mj-lt"/>
            </a:endParaRPr>
          </a:p>
          <a:p>
            <a:pPr algn="ctr">
              <a:defRPr/>
            </a:pPr>
            <a:endParaRPr lang="en-US" altLang="zh-CN" sz="1400" dirty="0">
              <a:solidFill>
                <a:srgbClr val="4C4C4C"/>
              </a:solidFill>
              <a:latin typeface="+mj-lt"/>
            </a:endParaRPr>
          </a:p>
          <a:p>
            <a:pPr algn="ctr">
              <a:defRPr/>
            </a:pPr>
            <a:endParaRPr lang="en-US" altLang="zh-CN" sz="1400" dirty="0">
              <a:solidFill>
                <a:srgbClr val="4C4C4C"/>
              </a:solidFill>
              <a:latin typeface="+mj-lt"/>
            </a:endParaRPr>
          </a:p>
          <a:p>
            <a:pPr algn="ctr">
              <a:defRPr/>
            </a:pPr>
            <a:r>
              <a:rPr lang="en-US" altLang="zh-CN" b="1" dirty="0">
                <a:solidFill>
                  <a:schemeClr val="tx1">
                    <a:lumMod val="50000"/>
                  </a:schemeClr>
                </a:solidFill>
                <a:latin typeface="+mj-lt"/>
              </a:rPr>
              <a:t>M.C.A. II Sem. 4</a:t>
            </a:r>
          </a:p>
          <a:p>
            <a:pPr algn="ctr">
              <a:defRPr/>
            </a:pPr>
            <a:endParaRPr lang="en-US" altLang="zh-CN" b="1" dirty="0">
              <a:solidFill>
                <a:schemeClr val="tx1">
                  <a:lumMod val="50000"/>
                </a:schemeClr>
              </a:solidFill>
              <a:latin typeface="+mj-lt"/>
            </a:endParaRPr>
          </a:p>
          <a:p>
            <a:pPr algn="ctr">
              <a:defRPr/>
            </a:pPr>
            <a:r>
              <a:rPr lang="en-US" altLang="zh-CN" sz="2000" b="1" dirty="0">
                <a:solidFill>
                  <a:srgbClr val="000000"/>
                </a:solidFill>
                <a:latin typeface="+mj-lt"/>
                <a:sym typeface="Calibri" panose="020F0502020204030204" pitchFamily="34" charset="0"/>
              </a:rPr>
              <a:t>Under the Guidance of</a:t>
            </a:r>
            <a:endParaRPr lang="en-US" altLang="zh-CN" sz="1400" dirty="0">
              <a:solidFill>
                <a:srgbClr val="4C4C4C"/>
              </a:solidFill>
              <a:latin typeface="+mj-lt"/>
            </a:endParaRPr>
          </a:p>
          <a:p>
            <a:pPr algn="ctr">
              <a:defRPr/>
            </a:pPr>
            <a:r>
              <a:rPr lang="en-US" altLang="zh-CN" sz="2000" dirty="0">
                <a:solidFill>
                  <a:srgbClr val="000000"/>
                </a:solidFill>
                <a:latin typeface="+mj-lt"/>
                <a:sym typeface="Calibri" panose="020F0502020204030204" pitchFamily="34" charset="0"/>
              </a:rPr>
              <a:t>Prof. Zankhana Vaishnav </a:t>
            </a:r>
            <a:endParaRPr lang="en-US" altLang="zh-CN" sz="1400" dirty="0">
              <a:solidFill>
                <a:srgbClr val="4C4C4C"/>
              </a:solidFill>
              <a:latin typeface="+mj-lt"/>
            </a:endParaRPr>
          </a:p>
          <a:p>
            <a:pPr algn="ctr">
              <a:defRPr/>
            </a:pPr>
            <a:endParaRPr lang="en-US" altLang="zh-CN" sz="1400" dirty="0">
              <a:solidFill>
                <a:srgbClr val="4C4C4C"/>
              </a:solidFill>
              <a:latin typeface="+mj-lt"/>
            </a:endParaRPr>
          </a:p>
        </p:txBody>
      </p:sp>
      <p:pic>
        <p:nvPicPr>
          <p:cNvPr id="8" name="Picture 2">
            <a:extLst>
              <a:ext uri="{FF2B5EF4-FFF2-40B4-BE49-F238E27FC236}">
                <a16:creationId xmlns:a16="http://schemas.microsoft.com/office/drawing/2014/main" id="{C426AC09-208C-0A8B-1AC9-4EDF5101AA9E}"/>
              </a:ext>
            </a:extLst>
          </p:cNvPr>
          <p:cNvPicPr>
            <a:picLocks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76858" y="381635"/>
            <a:ext cx="1384300" cy="1295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6695828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2C77AA-23AB-9A9D-136E-25BFAC76A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CFF893A-2AA1-B519-DA34-6E4D8F590C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Shape 1">
            <a:extLst>
              <a:ext uri="{FF2B5EF4-FFF2-40B4-BE49-F238E27FC236}">
                <a16:creationId xmlns:a16="http://schemas.microsoft.com/office/drawing/2014/main" id="{2FB95B8F-3AAC-59C1-A752-E3CE61EA41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43405" y="152400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4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 panose="020F0502020204030204" pitchFamily="34" charset="0"/>
              </a:rPr>
              <a:t>AGENDA</a:t>
            </a:r>
            <a:endParaRPr lang="en-US" altLang="en-US" dirty="0">
              <a:solidFill>
                <a:srgbClr val="4C4C4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Shape 2">
            <a:extLst>
              <a:ext uri="{FF2B5EF4-FFF2-40B4-BE49-F238E27FC236}">
                <a16:creationId xmlns:a16="http://schemas.microsoft.com/office/drawing/2014/main" id="{3AC4208A-2E7F-8BC1-DDF8-CBDA48861E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1473200"/>
            <a:ext cx="8229600" cy="5257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280988" indent="-222250" algn="just"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  <a:defRPr/>
            </a:pPr>
            <a:r>
              <a:rPr lang="en-US" sz="2400" dirty="0">
                <a:solidFill>
                  <a:schemeClr val="accent4">
                    <a:lumMod val="50000"/>
                  </a:schemeClr>
                </a:solidFill>
                <a:latin typeface="Times New Roman" pitchFamily="18" charset="0"/>
                <a:cs typeface="Times New Roman" pitchFamily="18" charset="0"/>
                <a:sym typeface="Calibri" pitchFamily="34" charset="0"/>
              </a:rPr>
              <a:t>Company Profile (in brief)</a:t>
            </a:r>
            <a:endParaRPr lang="en-US" altLang="en-US" sz="2400" dirty="0">
              <a:solidFill>
                <a:schemeClr val="accent4">
                  <a:lumMod val="50000"/>
                </a:schemeClr>
              </a:solidFill>
              <a:latin typeface="Times New Roman" pitchFamily="18" charset="0"/>
              <a:cs typeface="Times New Roman" pitchFamily="18" charset="0"/>
            </a:endParaRPr>
          </a:p>
          <a:p>
            <a:pPr marL="280988" indent="-222250" algn="just"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  <a:defRPr/>
            </a:pPr>
            <a:r>
              <a:rPr lang="en-US" sz="2400" dirty="0">
                <a:solidFill>
                  <a:schemeClr val="accent4">
                    <a:lumMod val="50000"/>
                  </a:schemeClr>
                </a:solidFill>
                <a:latin typeface="Times New Roman" pitchFamily="18" charset="0"/>
                <a:cs typeface="Times New Roman" pitchFamily="18" charset="0"/>
                <a:sym typeface="Calibri" pitchFamily="34" charset="0"/>
              </a:rPr>
              <a:t>System Description (Technologies used)</a:t>
            </a:r>
            <a:endParaRPr lang="en-US" altLang="en-US" sz="2400" dirty="0">
              <a:solidFill>
                <a:schemeClr val="accent4">
                  <a:lumMod val="50000"/>
                </a:schemeClr>
              </a:solidFill>
              <a:latin typeface="Times New Roman" pitchFamily="18" charset="0"/>
              <a:cs typeface="Times New Roman" pitchFamily="18" charset="0"/>
            </a:endParaRPr>
          </a:p>
          <a:p>
            <a:pPr marL="280988" indent="-222250" algn="just"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  <a:defRPr/>
            </a:pPr>
            <a:r>
              <a:rPr lang="en-US" sz="2400" dirty="0">
                <a:solidFill>
                  <a:schemeClr val="accent4">
                    <a:lumMod val="50000"/>
                  </a:schemeClr>
                </a:solidFill>
                <a:latin typeface="Times New Roman" pitchFamily="18" charset="0"/>
                <a:cs typeface="Times New Roman" pitchFamily="18" charset="0"/>
                <a:sym typeface="Calibri" pitchFamily="34" charset="0"/>
              </a:rPr>
              <a:t>Project Overview</a:t>
            </a:r>
            <a:endParaRPr lang="en-US" altLang="en-US" sz="2400" dirty="0">
              <a:solidFill>
                <a:schemeClr val="accent4">
                  <a:lumMod val="50000"/>
                </a:schemeClr>
              </a:solidFill>
              <a:latin typeface="Times New Roman" pitchFamily="18" charset="0"/>
              <a:cs typeface="Times New Roman" pitchFamily="18" charset="0"/>
            </a:endParaRPr>
          </a:p>
          <a:p>
            <a:pPr marL="280988" indent="-222250" algn="just"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  <a:defRPr/>
            </a:pPr>
            <a:r>
              <a:rPr lang="en-US" sz="2400" dirty="0">
                <a:solidFill>
                  <a:schemeClr val="accent4">
                    <a:lumMod val="50000"/>
                  </a:schemeClr>
                </a:solidFill>
                <a:latin typeface="Times New Roman" pitchFamily="18" charset="0"/>
                <a:cs typeface="Times New Roman" pitchFamily="18" charset="0"/>
                <a:sym typeface="Calibri" pitchFamily="34" charset="0"/>
              </a:rPr>
              <a:t>Database Design/ File System (Table Designs)</a:t>
            </a:r>
            <a:endParaRPr lang="en-US" altLang="en-US" sz="2400" dirty="0">
              <a:solidFill>
                <a:schemeClr val="accent4">
                  <a:lumMod val="50000"/>
                </a:schemeClr>
              </a:solidFill>
              <a:latin typeface="Times New Roman" pitchFamily="18" charset="0"/>
              <a:cs typeface="Times New Roman" pitchFamily="18" charset="0"/>
            </a:endParaRPr>
          </a:p>
          <a:p>
            <a:pPr marL="280988" indent="-222250" algn="just"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None/>
              <a:defRPr/>
            </a:pPr>
            <a:r>
              <a:rPr lang="en-US" sz="2400" dirty="0">
                <a:solidFill>
                  <a:schemeClr val="accent4">
                    <a:lumMod val="50000"/>
                  </a:schemeClr>
                </a:solidFill>
                <a:latin typeface="Times New Roman" pitchFamily="18" charset="0"/>
                <a:cs typeface="Times New Roman" pitchFamily="18" charset="0"/>
                <a:sym typeface="Calibri" pitchFamily="34" charset="0"/>
              </a:rPr>
              <a:t>   Diagrams (</a:t>
            </a:r>
            <a:r>
              <a:rPr lang="en-US" sz="2400" dirty="0">
                <a:solidFill>
                  <a:schemeClr val="accent4">
                    <a:lumMod val="50000"/>
                  </a:schemeClr>
                </a:solidFill>
                <a:latin typeface="Times New Roman" pitchFamily="18" charset="0"/>
                <a:cs typeface="Times New Roman" pitchFamily="18" charset="0"/>
              </a:rPr>
              <a:t>Use Case Diagram, Class Diagram, Interaction Diagram, Activity Diagram, Data Dictionary).</a:t>
            </a:r>
          </a:p>
          <a:p>
            <a:pPr marL="280988" indent="-222250" algn="just"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  <a:defRPr/>
            </a:pPr>
            <a:r>
              <a:rPr lang="en-US" sz="2400" dirty="0">
                <a:solidFill>
                  <a:schemeClr val="accent4">
                    <a:lumMod val="50000"/>
                  </a:schemeClr>
                </a:solidFill>
                <a:latin typeface="Times New Roman" pitchFamily="18" charset="0"/>
                <a:cs typeface="Times New Roman" pitchFamily="18" charset="0"/>
                <a:sym typeface="Calibri" pitchFamily="34" charset="0"/>
              </a:rPr>
              <a:t>Screen Shots (if partially ready)</a:t>
            </a:r>
            <a:endParaRPr lang="en-US" altLang="en-US" sz="2400" dirty="0">
              <a:solidFill>
                <a:schemeClr val="accent4">
                  <a:lumMod val="50000"/>
                </a:schemeClr>
              </a:solidFill>
              <a:latin typeface="Times New Roman" pitchFamily="18" charset="0"/>
              <a:cs typeface="Times New Roman" pitchFamily="18" charset="0"/>
            </a:endParaRPr>
          </a:p>
          <a:p>
            <a:pPr algn="just">
              <a:buFont typeface="Arial" panose="020B0604020202020204" pitchFamily="34" charset="0"/>
              <a:buNone/>
              <a:defRPr/>
            </a:pPr>
            <a:endParaRPr lang="en-US" altLang="en-US" sz="2400" dirty="0">
              <a:solidFill>
                <a:schemeClr val="accent4">
                  <a:lumMod val="50000"/>
                </a:schemeClr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0" name="TextShape 3">
            <a:extLst>
              <a:ext uri="{FF2B5EF4-FFF2-40B4-BE49-F238E27FC236}">
                <a16:creationId xmlns:a16="http://schemas.microsoft.com/office/drawing/2014/main" id="{DFFB997A-68A2-EBB6-4809-7D5938337A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" y="152400"/>
            <a:ext cx="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0000" tIns="45000" rIns="90000" bIns="45000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>
              <a:buFont typeface="Arial" panose="020B0604020202020204" pitchFamily="34" charset="0"/>
              <a:buNone/>
            </a:pPr>
            <a:endParaRPr lang="en-US" altLang="zh-CN" dirty="0">
              <a:solidFill>
                <a:srgbClr val="4C4C4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988647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84F2B7-5BE7-DFDE-73AE-E5DAECE164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E9FEDEA-DF05-3E8F-547E-E6E50B4CE7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Shape 1">
            <a:extLst>
              <a:ext uri="{FF2B5EF4-FFF2-40B4-BE49-F238E27FC236}">
                <a16:creationId xmlns:a16="http://schemas.microsoft.com/office/drawing/2014/main" id="{40A73C23-A3EA-946D-FE75-431FA35C1A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-2058035" y="0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zh-CN" sz="4400" dirty="0">
                <a:solidFill>
                  <a:srgbClr val="000000"/>
                </a:solidFill>
                <a:latin typeface="Calibri" panose="020F0502020204030204" pitchFamily="34" charset="0"/>
                <a:sym typeface="Calibri" panose="020F0502020204030204" pitchFamily="34" charset="0"/>
              </a:rPr>
              <a:t> Company Profile: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0BB317-5595-D24F-BF4C-A8EA901C9CA0}"/>
              </a:ext>
            </a:extLst>
          </p:cNvPr>
          <p:cNvSpPr txBox="1"/>
          <p:nvPr/>
        </p:nvSpPr>
        <p:spPr>
          <a:xfrm>
            <a:off x="162561" y="1110685"/>
            <a:ext cx="12029438" cy="49552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000" b="1" dirty="0"/>
              <a:t>CODING HOUSE – Company Overview </a:t>
            </a:r>
          </a:p>
          <a:p>
            <a:r>
              <a:rPr lang="en-IN" dirty="0"/>
              <a:t>CODING HOUSE is a technology-driven software development company focused on building reliable, scalable, and user-centric digital solutions. We help startups, small businesses, and growing enterprises turn ideas into high-quality products using modern technologies and proven development practices. </a:t>
            </a:r>
          </a:p>
          <a:p>
            <a:endParaRPr lang="en-IN" dirty="0"/>
          </a:p>
          <a:p>
            <a:r>
              <a:rPr lang="en-IN" sz="2000" b="1" dirty="0"/>
              <a:t>What We Do:</a:t>
            </a:r>
          </a:p>
          <a:p>
            <a:r>
              <a:rPr lang="en-IN" dirty="0"/>
              <a:t>● Mobile App Development (Flutter, Android, iOS) </a:t>
            </a:r>
          </a:p>
          <a:p>
            <a:r>
              <a:rPr lang="en-IN" dirty="0"/>
              <a:t>● Web Development (React, Node.js, PHP, WordPress) </a:t>
            </a:r>
          </a:p>
          <a:p>
            <a:r>
              <a:rPr lang="en-IN" dirty="0"/>
              <a:t>● UI/UX Design (Figma-based, conversion-focused designs) </a:t>
            </a:r>
          </a:p>
          <a:p>
            <a:r>
              <a:rPr lang="en-IN" dirty="0"/>
              <a:t>● Custom Software Solutions </a:t>
            </a:r>
          </a:p>
          <a:p>
            <a:r>
              <a:rPr lang="en-IN" dirty="0"/>
              <a:t>● API Development &amp; Integrations </a:t>
            </a:r>
          </a:p>
          <a:p>
            <a:endParaRPr lang="en-IN" dirty="0"/>
          </a:p>
          <a:p>
            <a:r>
              <a:rPr lang="en-IN" sz="2000" b="1" dirty="0"/>
              <a:t>Our Approach: </a:t>
            </a:r>
          </a:p>
          <a:p>
            <a:r>
              <a:rPr lang="en-IN" dirty="0"/>
              <a:t>At CODING HOUSE, we follow a transparent and collaborative development process: </a:t>
            </a:r>
          </a:p>
          <a:p>
            <a:r>
              <a:rPr lang="en-IN" dirty="0"/>
              <a:t>● Clear understanding of client requirements </a:t>
            </a:r>
          </a:p>
          <a:p>
            <a:r>
              <a:rPr lang="en-IN" dirty="0"/>
              <a:t>● Structured planning and architecture</a:t>
            </a:r>
          </a:p>
          <a:p>
            <a:r>
              <a:rPr lang="en-IN" dirty="0"/>
              <a:t>● Agile development with regular updates</a:t>
            </a:r>
          </a:p>
        </p:txBody>
      </p:sp>
    </p:spTree>
    <p:extLst>
      <p:ext uri="{BB962C8B-B14F-4D97-AF65-F5344CB8AC3E}">
        <p14:creationId xmlns:p14="http://schemas.microsoft.com/office/powerpoint/2010/main" val="36438336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8DD299-C975-74BE-F6AD-CA1D8EDFDF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2E7CED0-EC6C-E71A-8CA8-5E26876FC8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DE0E516-4C7A-5345-8AD3-E97A2446A2A9}"/>
              </a:ext>
            </a:extLst>
          </p:cNvPr>
          <p:cNvSpPr txBox="1"/>
          <p:nvPr/>
        </p:nvSpPr>
        <p:spPr>
          <a:xfrm>
            <a:off x="223520" y="1233716"/>
            <a:ext cx="617728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Development Framework: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Frontend developed using React.js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Backend built with Node.js and Express.js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RESTful APIs for seamless client-server communication</a:t>
            </a:r>
          </a:p>
          <a:p>
            <a:r>
              <a:rPr lang="en-IN" dirty="0"/>
              <a:t> </a:t>
            </a:r>
          </a:p>
          <a:p>
            <a:br>
              <a:rPr lang="en-IN" b="1" dirty="0"/>
            </a:br>
            <a:r>
              <a:rPr lang="en-IN" b="1" dirty="0"/>
              <a:t>UI / Frontend Design: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Component-based architecture using React.js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Styled using Tailwind CSS for modern, responsive UI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Mobile-friendly and optimized user experience </a:t>
            </a:r>
          </a:p>
          <a:p>
            <a:endParaRPr lang="en-IN" dirty="0"/>
          </a:p>
          <a:p>
            <a:br>
              <a:rPr lang="en-IN" b="1" dirty="0"/>
            </a:br>
            <a:r>
              <a:rPr lang="en-IN" b="1" dirty="0"/>
              <a:t>Programming Language: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JavaScript (ES6+) used across frontend and backend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Ensures consistency and faster development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CBE8A7F-9170-2545-E00B-1E42EAF8481A}"/>
              </a:ext>
            </a:extLst>
          </p:cNvPr>
          <p:cNvSpPr txBox="1"/>
          <p:nvPr/>
        </p:nvSpPr>
        <p:spPr>
          <a:xfrm>
            <a:off x="6116320" y="1093044"/>
            <a:ext cx="841248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b="1" dirty="0"/>
              <a:t>Database: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MongoDB Atlas (Cloud Database) used for data storage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Stores: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dirty="0"/>
              <a:t>User data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dirty="0"/>
              <a:t>Investments Watchlists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Scalable and accessible from anywhere </a:t>
            </a:r>
          </a:p>
          <a:p>
            <a:pPr>
              <a:buNone/>
            </a:pPr>
            <a:endParaRPr lang="en-IN" dirty="0"/>
          </a:p>
          <a:p>
            <a:pPr>
              <a:buNone/>
            </a:pPr>
            <a:r>
              <a:rPr lang="en-IN" b="1" dirty="0"/>
              <a:t>Media Storage: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Cloudinary used for storing images and media files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Fast CDN delivery and optimized asset handling </a:t>
            </a:r>
          </a:p>
          <a:p>
            <a:pPr>
              <a:buNone/>
            </a:pPr>
            <a:br>
              <a:rPr lang="en-IN" dirty="0"/>
            </a:br>
            <a:endParaRPr lang="en-IN" dirty="0"/>
          </a:p>
          <a:p>
            <a:pPr>
              <a:buNone/>
            </a:pPr>
            <a:r>
              <a:rPr lang="en-IN" b="1" dirty="0"/>
              <a:t>Authentication &amp; Security: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OTP-based email authentication system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Secure login and user verification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JWT (JSON Web Token) for session management</a:t>
            </a:r>
          </a:p>
        </p:txBody>
      </p:sp>
      <p:sp>
        <p:nvSpPr>
          <p:cNvPr id="9" name="TextShape 1">
            <a:extLst>
              <a:ext uri="{FF2B5EF4-FFF2-40B4-BE49-F238E27FC236}">
                <a16:creationId xmlns:a16="http://schemas.microsoft.com/office/drawing/2014/main" id="{AB4809D9-F34B-F39F-88CA-7658C7A4C8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641475" y="0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4400" dirty="0">
                <a:solidFill>
                  <a:srgbClr val="000000"/>
                </a:solidFill>
                <a:latin typeface="Calibri" panose="020F0502020204030204" pitchFamily="34" charset="0"/>
                <a:sym typeface="Calibri" panose="020F0502020204030204" pitchFamily="34" charset="0"/>
              </a:rPr>
              <a:t>System Description</a:t>
            </a:r>
            <a:endParaRPr lang="en-US" altLang="en-US" sz="4400" dirty="0">
              <a:solidFill>
                <a:srgbClr val="4C4C4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722881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0C80A5-5F1F-78EA-FBF5-AD49176CD9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891539C-8B76-1392-A022-83753AECAB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TextShape 1">
            <a:extLst>
              <a:ext uri="{FF2B5EF4-FFF2-40B4-BE49-F238E27FC236}">
                <a16:creationId xmlns:a16="http://schemas.microsoft.com/office/drawing/2014/main" id="{0E8EAA2D-5F2E-4257-795B-DA0693FB60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-2011480" y="63535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4400" dirty="0">
                <a:solidFill>
                  <a:srgbClr val="000000"/>
                </a:solidFill>
                <a:latin typeface="Calibri" panose="020F0502020204030204" pitchFamily="34" charset="0"/>
                <a:sym typeface="Calibri" panose="020F0502020204030204" pitchFamily="34" charset="0"/>
              </a:rPr>
              <a:t>Project Overview:</a:t>
            </a:r>
            <a:endParaRPr lang="en-US" altLang="en-US" sz="4400" dirty="0">
              <a:solidFill>
                <a:srgbClr val="4C4C4C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D6BE0A-BA3A-06B7-5B98-13FA2857B753}"/>
              </a:ext>
            </a:extLst>
          </p:cNvPr>
          <p:cNvSpPr txBox="1"/>
          <p:nvPr/>
        </p:nvSpPr>
        <p:spPr>
          <a:xfrm>
            <a:off x="92597" y="2784007"/>
            <a:ext cx="12099402" cy="4247317"/>
          </a:xfrm>
          <a:prstGeom prst="rect">
            <a:avLst/>
          </a:prstGeom>
          <a:noFill/>
        </p:spPr>
        <p:txBody>
          <a:bodyPr wrap="square" numCol="2">
            <a:spAutoFit/>
          </a:bodyPr>
          <a:lstStyle/>
          <a:p>
            <a:endParaRPr lang="en-IN" b="1" dirty="0">
              <a:cs typeface="Arial" panose="020B0604020202020204" pitchFamily="34" charset="0"/>
            </a:endParaRPr>
          </a:p>
          <a:p>
            <a:endParaRPr lang="en-IN" b="1" dirty="0">
              <a:cs typeface="Arial" panose="020B0604020202020204" pitchFamily="34" charset="0"/>
            </a:endParaRPr>
          </a:p>
          <a:p>
            <a:r>
              <a:rPr lang="en-IN" sz="2000" b="1" dirty="0">
                <a:cs typeface="Arial" panose="020B0604020202020204" pitchFamily="34" charset="0"/>
              </a:rPr>
              <a:t>Core System Features</a:t>
            </a:r>
          </a:p>
          <a:p>
            <a:endParaRPr lang="en-IN" b="1" dirty="0"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cs typeface="Arial" panose="020B0604020202020204" pitchFamily="34" charset="0"/>
              </a:rPr>
              <a:t>OTP-based Login &amp; Registration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cs typeface="Arial" panose="020B0604020202020204" pitchFamily="34" charset="0"/>
              </a:rPr>
              <a:t>Dashboard for SIP, Stocks &amp; IPO tracking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cs typeface="Arial" panose="020B0604020202020204" pitchFamily="34" charset="0"/>
              </a:rPr>
              <a:t>Watchlist with real-time market data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cs typeface="Arial" panose="020B0604020202020204" pitchFamily="34" charset="0"/>
              </a:rPr>
              <a:t>Reports &amp; Analytics for performance tracking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cs typeface="Arial" panose="020B0604020202020204" pitchFamily="34" charset="0"/>
              </a:rPr>
              <a:t>Profile management with Cloudinary (image upload)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cs typeface="Arial" panose="020B0604020202020204" pitchFamily="34" charset="0"/>
              </a:rPr>
              <a:t>Data stored securely in MongoDB Atlas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cs typeface="Arial" panose="020B0604020202020204" pitchFamily="34" charset="0"/>
              </a:rPr>
              <a:t>API-based communication (Frontend ↔ Backend)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cs typeface="Arial" panose="020B0604020202020204" pitchFamily="34" charset="0"/>
            </a:endParaRPr>
          </a:p>
          <a:p>
            <a:endParaRPr lang="en-US" b="1" dirty="0">
              <a:cs typeface="Arial" panose="020B0604020202020204" pitchFamily="34" charset="0"/>
            </a:endParaRPr>
          </a:p>
          <a:p>
            <a:endParaRPr lang="en-US" b="1" dirty="0">
              <a:cs typeface="Arial" panose="020B0604020202020204" pitchFamily="34" charset="0"/>
            </a:endParaRPr>
          </a:p>
          <a:p>
            <a:endParaRPr lang="en-US" b="1" dirty="0">
              <a:cs typeface="Arial" panose="020B0604020202020204" pitchFamily="34" charset="0"/>
            </a:endParaRPr>
          </a:p>
          <a:p>
            <a:endParaRPr lang="en-US" b="1" dirty="0">
              <a:cs typeface="Arial" panose="020B0604020202020204" pitchFamily="34" charset="0"/>
            </a:endParaRPr>
          </a:p>
          <a:p>
            <a:endParaRPr lang="en-US" b="1" dirty="0">
              <a:cs typeface="Arial" panose="020B0604020202020204" pitchFamily="34" charset="0"/>
            </a:endParaRPr>
          </a:p>
          <a:p>
            <a:r>
              <a:rPr lang="en-US" sz="2000" b="1" dirty="0">
                <a:cs typeface="Arial" panose="020B0604020202020204" pitchFamily="34" charset="0"/>
              </a:rPr>
              <a:t>User Functional Capabilities</a:t>
            </a:r>
          </a:p>
          <a:p>
            <a:endParaRPr lang="en-US" b="1" dirty="0"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cs typeface="Arial" panose="020B0604020202020204" pitchFamily="34" charset="0"/>
              </a:rPr>
              <a:t>Manage investments including SIP, Stocks, and IPOs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cs typeface="Arial" panose="020B0604020202020204" pitchFamily="34" charset="0"/>
              </a:rPr>
              <a:t>Add and track assets in a personalized watchlist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cs typeface="Arial" panose="020B0604020202020204" pitchFamily="34" charset="0"/>
              </a:rPr>
              <a:t>View real-time market data and insights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cs typeface="Arial" panose="020B0604020202020204" pitchFamily="34" charset="0"/>
              </a:rPr>
              <a:t>Access reports and analytics for better decision-making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cs typeface="Arial" panose="020B0604020202020204" pitchFamily="34" charset="0"/>
              </a:rPr>
              <a:t>Update profile details and upload images using Cloudinary integration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cs typeface="Arial" panose="020B0604020202020204" pitchFamily="34" charset="0"/>
              </a:rPr>
              <a:t>Secure authentication using OTP &amp; JWT</a:t>
            </a:r>
          </a:p>
        </p:txBody>
      </p:sp>
      <p:sp>
        <p:nvSpPr>
          <p:cNvPr id="17" name="TextShape 1">
            <a:extLst>
              <a:ext uri="{FF2B5EF4-FFF2-40B4-BE49-F238E27FC236}">
                <a16:creationId xmlns:a16="http://schemas.microsoft.com/office/drawing/2014/main" id="{ABC6D8BD-2CEE-8C81-547D-A1CC5876B5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167" y="1327945"/>
            <a:ext cx="12326453" cy="15125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D0D0D"/>
                </a:solidFill>
                <a:effectLst/>
                <a:latin typeface="+mn-lt"/>
                <a:cs typeface="Arial" panose="020B0604020202020204" pitchFamily="34" charset="0"/>
              </a:rPr>
              <a:t>InvestSphere is a MERN-based web application for managing and tracking investments efficiently.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D0D0D"/>
                </a:solidFill>
                <a:effectLst/>
                <a:latin typeface="+mn-lt"/>
                <a:cs typeface="Arial" panose="020B0604020202020204" pitchFamily="34" charset="0"/>
              </a:rPr>
              <a:t>It provides a centralized platform to monitor </a:t>
            </a:r>
            <a:r>
              <a:rPr lang="en-US" b="1" i="0" dirty="0">
                <a:solidFill>
                  <a:srgbClr val="0D0D0D"/>
                </a:solidFill>
                <a:effectLst/>
                <a:latin typeface="+mn-lt"/>
                <a:cs typeface="Arial" panose="020B0604020202020204" pitchFamily="34" charset="0"/>
              </a:rPr>
              <a:t>Stocks, SIPs, IPOs, Market News and Watchlists</a:t>
            </a:r>
            <a:r>
              <a:rPr lang="en-US" b="0" i="0" dirty="0">
                <a:solidFill>
                  <a:srgbClr val="0D0D0D"/>
                </a:solidFill>
                <a:effectLst/>
                <a:latin typeface="+mn-lt"/>
                <a:cs typeface="Arial" panose="020B0604020202020204" pitchFamily="34" charset="0"/>
              </a:rPr>
              <a:t> with real-time insights.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D0D0D"/>
                </a:solidFill>
                <a:effectLst/>
                <a:latin typeface="+mn-lt"/>
                <a:cs typeface="Arial" panose="020B0604020202020204" pitchFamily="34" charset="0"/>
              </a:rPr>
              <a:t>Built on a </a:t>
            </a:r>
            <a:r>
              <a:rPr lang="en-US" b="1" i="0" dirty="0">
                <a:solidFill>
                  <a:srgbClr val="0D0D0D"/>
                </a:solidFill>
                <a:effectLst/>
                <a:latin typeface="+mn-lt"/>
                <a:cs typeface="Arial" panose="020B0604020202020204" pitchFamily="34" charset="0"/>
              </a:rPr>
              <a:t>modular and scalable architecture</a:t>
            </a:r>
            <a:r>
              <a:rPr lang="en-US" b="0" i="0" dirty="0">
                <a:solidFill>
                  <a:srgbClr val="0D0D0D"/>
                </a:solidFill>
                <a:effectLst/>
                <a:latin typeface="+mn-lt"/>
                <a:cs typeface="Arial" panose="020B0604020202020204" pitchFamily="34" charset="0"/>
              </a:rPr>
              <a:t>, ensuring high performance and maintainability.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D0D0D"/>
                </a:solidFill>
                <a:effectLst/>
                <a:latin typeface="+mn-lt"/>
                <a:cs typeface="Arial" panose="020B0604020202020204" pitchFamily="34" charset="0"/>
              </a:rPr>
              <a:t>Includes secure authentication, data visualization, and interactive dashboards.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+mn-lt"/>
                <a:cs typeface="Arial" panose="020B0604020202020204" pitchFamily="34" charset="0"/>
              </a:rPr>
              <a:t>Designed using scalable MERN architecture with cloud integration (MongoDB Atlas &amp; Cloudinary)</a:t>
            </a:r>
            <a:endParaRPr lang="en-US" b="0" i="0" dirty="0">
              <a:solidFill>
                <a:srgbClr val="0D0D0D"/>
              </a:solidFill>
              <a:effectLst/>
              <a:latin typeface="+mn-lt"/>
              <a:cs typeface="Arial" panose="020B0604020202020204" pitchFamily="34" charset="0"/>
            </a:endParaRPr>
          </a:p>
          <a:p>
            <a:pPr marL="571500" indent="-571500" algn="ctr">
              <a:buFont typeface="Arial" panose="020B0604020202020204" pitchFamily="34" charset="0"/>
              <a:buChar char="•"/>
            </a:pPr>
            <a:endParaRPr lang="en-US" altLang="en-US" dirty="0">
              <a:solidFill>
                <a:srgbClr val="4C4C4C"/>
              </a:solidFill>
              <a:latin typeface="+mn-l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790796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5F1FCC-A751-F2C6-BE2E-DA0B3F1E94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FD609AF5-D32E-4EFA-0444-97C884432F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Shape 1">
            <a:extLst>
              <a:ext uri="{FF2B5EF4-FFF2-40B4-BE49-F238E27FC236}">
                <a16:creationId xmlns:a16="http://schemas.microsoft.com/office/drawing/2014/main" id="{031BBD10-1BA0-4FCE-99EE-DE5B109FB5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768411" y="63535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4400" dirty="0">
                <a:solidFill>
                  <a:srgbClr val="4C4C4C"/>
                </a:solidFill>
              </a:rPr>
              <a:t>Database Design: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A7DCF0-0B62-8B98-D895-8108428353B6}"/>
              </a:ext>
            </a:extLst>
          </p:cNvPr>
          <p:cNvSpPr/>
          <p:nvPr/>
        </p:nvSpPr>
        <p:spPr>
          <a:xfrm>
            <a:off x="-290524" y="1995061"/>
            <a:ext cx="4578176" cy="3108543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en-US" sz="240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Database Name:   </a:t>
            </a:r>
          </a:p>
          <a:p>
            <a:pPr algn="ctr"/>
            <a:endParaRPr lang="en-US" sz="24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algn="ctr"/>
            <a:r>
              <a:rPr lang="en-US" sz="2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	</a:t>
            </a:r>
            <a:r>
              <a:rPr lang="en-IN" sz="2000" dirty="0"/>
              <a:t>investsphereDB</a:t>
            </a:r>
          </a:p>
          <a:p>
            <a:pPr algn="ctr"/>
            <a:endParaRPr lang="en-IN" sz="200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algn="ctr"/>
            <a:r>
              <a:rPr lang="en-IN" sz="2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Collection Name: </a:t>
            </a:r>
          </a:p>
          <a:p>
            <a:pPr algn="ctr"/>
            <a:endParaRPr lang="en-IN" sz="20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r>
              <a:rPr lang="en-IN" sz="200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		1. </a:t>
            </a:r>
            <a:r>
              <a:rPr lang="en-IN" sz="2000" dirty="0"/>
              <a:t>Register (Users Table)</a:t>
            </a:r>
          </a:p>
          <a:p>
            <a:r>
              <a:rPr lang="en-IN" sz="200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		2. </a:t>
            </a:r>
            <a:r>
              <a:rPr lang="en-IN" sz="2000" dirty="0"/>
              <a:t>Reports</a:t>
            </a:r>
          </a:p>
          <a:p>
            <a:r>
              <a:rPr lang="en-IN" sz="200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		3.</a:t>
            </a:r>
            <a:r>
              <a:rPr lang="en-IN" sz="2000" dirty="0"/>
              <a:t>  Watchlists</a:t>
            </a:r>
            <a:endParaRPr lang="en-IN" sz="200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40018406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CC9839-3EBA-A0B3-6869-00173E4DB3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6C4F8F14-3761-A046-708F-59F9CC66B8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Shape 1">
            <a:extLst>
              <a:ext uri="{FF2B5EF4-FFF2-40B4-BE49-F238E27FC236}">
                <a16:creationId xmlns:a16="http://schemas.microsoft.com/office/drawing/2014/main" id="{1883628E-BC3D-96A8-C937-5714F30457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-9056" y="40385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3000" dirty="0">
                <a:solidFill>
                  <a:srgbClr val="4C4C4C"/>
                </a:solidFill>
              </a:rPr>
              <a:t>Collection: Register (Users Table)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476C48A-0F85-E696-C111-82ACBA6369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381548"/>
              </p:ext>
            </p:extLst>
          </p:nvPr>
        </p:nvGraphicFramePr>
        <p:xfrm>
          <a:off x="1331088" y="1180813"/>
          <a:ext cx="9954228" cy="474543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3318076">
                  <a:extLst>
                    <a:ext uri="{9D8B030D-6E8A-4147-A177-3AD203B41FA5}">
                      <a16:colId xmlns:a16="http://schemas.microsoft.com/office/drawing/2014/main" val="2564525623"/>
                    </a:ext>
                  </a:extLst>
                </a:gridCol>
                <a:gridCol w="3318076">
                  <a:extLst>
                    <a:ext uri="{9D8B030D-6E8A-4147-A177-3AD203B41FA5}">
                      <a16:colId xmlns:a16="http://schemas.microsoft.com/office/drawing/2014/main" val="2576632747"/>
                    </a:ext>
                  </a:extLst>
                </a:gridCol>
                <a:gridCol w="3318076">
                  <a:extLst>
                    <a:ext uri="{9D8B030D-6E8A-4147-A177-3AD203B41FA5}">
                      <a16:colId xmlns:a16="http://schemas.microsoft.com/office/drawing/2014/main" val="1122865578"/>
                    </a:ext>
                  </a:extLst>
                </a:gridCol>
              </a:tblGrid>
              <a:tr h="31619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b="1" dirty="0"/>
                        <a:t>Field Name</a:t>
                      </a:r>
                    </a:p>
                  </a:txBody>
                  <a:tcPr marL="72522" marR="72522" marT="36261" marB="3626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b="1" dirty="0"/>
                        <a:t>Data Type</a:t>
                      </a:r>
                    </a:p>
                  </a:txBody>
                  <a:tcPr marL="72522" marR="72522" marT="36261" marB="3626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b="1" dirty="0"/>
                        <a:t>Description</a:t>
                      </a:r>
                    </a:p>
                  </a:txBody>
                  <a:tcPr marL="72522" marR="72522" marT="36261" marB="36261" anchor="ctr"/>
                </a:tc>
                <a:extLst>
                  <a:ext uri="{0D108BD9-81ED-4DB2-BD59-A6C34878D82A}">
                    <a16:rowId xmlns:a16="http://schemas.microsoft.com/office/drawing/2014/main" val="4012863729"/>
                  </a:ext>
                </a:extLst>
              </a:tr>
              <a:tr h="31619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/>
                        <a:t>_id</a:t>
                      </a:r>
                    </a:p>
                  </a:txBody>
                  <a:tcPr marL="72522" marR="72522" marT="36261" marB="3626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/>
                        <a:t>ObjectId</a:t>
                      </a:r>
                    </a:p>
                  </a:txBody>
                  <a:tcPr marL="72522" marR="72522" marT="36261" marB="3626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/>
                        <a:t>Unique user ID</a:t>
                      </a:r>
                    </a:p>
                  </a:txBody>
                  <a:tcPr marL="72522" marR="72522" marT="36261" marB="36261" anchor="ctr"/>
                </a:tc>
                <a:extLst>
                  <a:ext uri="{0D108BD9-81ED-4DB2-BD59-A6C34878D82A}">
                    <a16:rowId xmlns:a16="http://schemas.microsoft.com/office/drawing/2014/main" val="3091312865"/>
                  </a:ext>
                </a:extLst>
              </a:tr>
              <a:tr h="31619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/>
                        <a:t>name</a:t>
                      </a:r>
                    </a:p>
                  </a:txBody>
                  <a:tcPr marL="72522" marR="72522" marT="36261" marB="3626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/>
                        <a:t>String</a:t>
                      </a:r>
                    </a:p>
                  </a:txBody>
                  <a:tcPr marL="72522" marR="72522" marT="36261" marB="3626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/>
                        <a:t>User full name</a:t>
                      </a:r>
                    </a:p>
                  </a:txBody>
                  <a:tcPr marL="72522" marR="72522" marT="36261" marB="36261" anchor="ctr"/>
                </a:tc>
                <a:extLst>
                  <a:ext uri="{0D108BD9-81ED-4DB2-BD59-A6C34878D82A}">
                    <a16:rowId xmlns:a16="http://schemas.microsoft.com/office/drawing/2014/main" val="3102230036"/>
                  </a:ext>
                </a:extLst>
              </a:tr>
              <a:tr h="31619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/>
                        <a:t>email</a:t>
                      </a:r>
                    </a:p>
                  </a:txBody>
                  <a:tcPr marL="72522" marR="72522" marT="36261" marB="3626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/>
                        <a:t>String</a:t>
                      </a:r>
                    </a:p>
                  </a:txBody>
                  <a:tcPr marL="72522" marR="72522" marT="36261" marB="3626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/>
                        <a:t>User email address</a:t>
                      </a:r>
                    </a:p>
                  </a:txBody>
                  <a:tcPr marL="72522" marR="72522" marT="36261" marB="36261" anchor="ctr"/>
                </a:tc>
                <a:extLst>
                  <a:ext uri="{0D108BD9-81ED-4DB2-BD59-A6C34878D82A}">
                    <a16:rowId xmlns:a16="http://schemas.microsoft.com/office/drawing/2014/main" val="2867293910"/>
                  </a:ext>
                </a:extLst>
              </a:tr>
              <a:tr h="31619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/>
                        <a:t>password</a:t>
                      </a:r>
                    </a:p>
                  </a:txBody>
                  <a:tcPr marL="72522" marR="72522" marT="36261" marB="3626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/>
                        <a:t>String</a:t>
                      </a:r>
                    </a:p>
                  </a:txBody>
                  <a:tcPr marL="72522" marR="72522" marT="36261" marB="3626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/>
                        <a:t>Encrypted password</a:t>
                      </a:r>
                    </a:p>
                  </a:txBody>
                  <a:tcPr marL="72522" marR="72522" marT="36261" marB="36261" anchor="ctr"/>
                </a:tc>
                <a:extLst>
                  <a:ext uri="{0D108BD9-81ED-4DB2-BD59-A6C34878D82A}">
                    <a16:rowId xmlns:a16="http://schemas.microsoft.com/office/drawing/2014/main" val="707675354"/>
                  </a:ext>
                </a:extLst>
              </a:tr>
              <a:tr h="31619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/>
                        <a:t>phone</a:t>
                      </a:r>
                    </a:p>
                  </a:txBody>
                  <a:tcPr marL="72522" marR="72522" marT="36261" marB="3626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/>
                        <a:t>String</a:t>
                      </a:r>
                    </a:p>
                  </a:txBody>
                  <a:tcPr marL="72522" marR="72522" marT="36261" marB="3626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/>
                        <a:t>Contact number</a:t>
                      </a:r>
                    </a:p>
                  </a:txBody>
                  <a:tcPr marL="72522" marR="72522" marT="36261" marB="36261" anchor="ctr"/>
                </a:tc>
                <a:extLst>
                  <a:ext uri="{0D108BD9-81ED-4DB2-BD59-A6C34878D82A}">
                    <a16:rowId xmlns:a16="http://schemas.microsoft.com/office/drawing/2014/main" val="91945496"/>
                  </a:ext>
                </a:extLst>
              </a:tr>
              <a:tr h="31619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/>
                        <a:t>country</a:t>
                      </a:r>
                    </a:p>
                  </a:txBody>
                  <a:tcPr marL="72522" marR="72522" marT="36261" marB="3626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/>
                        <a:t>String</a:t>
                      </a:r>
                    </a:p>
                  </a:txBody>
                  <a:tcPr marL="72522" marR="72522" marT="36261" marB="3626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/>
                        <a:t>User country</a:t>
                      </a:r>
                    </a:p>
                  </a:txBody>
                  <a:tcPr marL="72522" marR="72522" marT="36261" marB="36261" anchor="ctr"/>
                </a:tc>
                <a:extLst>
                  <a:ext uri="{0D108BD9-81ED-4DB2-BD59-A6C34878D82A}">
                    <a16:rowId xmlns:a16="http://schemas.microsoft.com/office/drawing/2014/main" val="1630972114"/>
                  </a:ext>
                </a:extLst>
              </a:tr>
              <a:tr h="31619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/>
                        <a:t>State</a:t>
                      </a:r>
                    </a:p>
                  </a:txBody>
                  <a:tcPr marL="72522" marR="72522" marT="36261" marB="3626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/>
                        <a:t>String</a:t>
                      </a:r>
                    </a:p>
                  </a:txBody>
                  <a:tcPr marL="72522" marR="72522" marT="36261" marB="3626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/>
                        <a:t>User state</a:t>
                      </a:r>
                    </a:p>
                  </a:txBody>
                  <a:tcPr marL="72522" marR="72522" marT="36261" marB="36261" anchor="ctr"/>
                </a:tc>
                <a:extLst>
                  <a:ext uri="{0D108BD9-81ED-4DB2-BD59-A6C34878D82A}">
                    <a16:rowId xmlns:a16="http://schemas.microsoft.com/office/drawing/2014/main" val="522706869"/>
                  </a:ext>
                </a:extLst>
              </a:tr>
              <a:tr h="31619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/>
                        <a:t>Dob</a:t>
                      </a:r>
                    </a:p>
                  </a:txBody>
                  <a:tcPr marL="72522" marR="72522" marT="36261" marB="3626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/>
                        <a:t>Date</a:t>
                      </a:r>
                    </a:p>
                  </a:txBody>
                  <a:tcPr marL="72522" marR="72522" marT="36261" marB="3626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/>
                        <a:t>Date of birth</a:t>
                      </a:r>
                    </a:p>
                  </a:txBody>
                  <a:tcPr marL="72522" marR="72522" marT="36261" marB="36261" anchor="ctr"/>
                </a:tc>
                <a:extLst>
                  <a:ext uri="{0D108BD9-81ED-4DB2-BD59-A6C34878D82A}">
                    <a16:rowId xmlns:a16="http://schemas.microsoft.com/office/drawing/2014/main" val="881260853"/>
                  </a:ext>
                </a:extLst>
              </a:tr>
              <a:tr h="31619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/>
                        <a:t>Pan</a:t>
                      </a:r>
                    </a:p>
                  </a:txBody>
                  <a:tcPr marL="72522" marR="72522" marT="36261" marB="3626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/>
                        <a:t>String</a:t>
                      </a:r>
                    </a:p>
                  </a:txBody>
                  <a:tcPr marL="72522" marR="72522" marT="36261" marB="3626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/>
                        <a:t>PAN card number</a:t>
                      </a:r>
                    </a:p>
                  </a:txBody>
                  <a:tcPr marL="72522" marR="72522" marT="36261" marB="36261" anchor="ctr"/>
                </a:tc>
                <a:extLst>
                  <a:ext uri="{0D108BD9-81ED-4DB2-BD59-A6C34878D82A}">
                    <a16:rowId xmlns:a16="http://schemas.microsoft.com/office/drawing/2014/main" val="3040218292"/>
                  </a:ext>
                </a:extLst>
              </a:tr>
              <a:tr h="31619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/>
                        <a:t>Verified</a:t>
                      </a:r>
                    </a:p>
                  </a:txBody>
                  <a:tcPr marL="72522" marR="72522" marT="36261" marB="3626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/>
                        <a:t>Boolean</a:t>
                      </a:r>
                    </a:p>
                  </a:txBody>
                  <a:tcPr marL="72522" marR="72522" marT="36261" marB="3626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/>
                        <a:t>Email verification status</a:t>
                      </a:r>
                    </a:p>
                  </a:txBody>
                  <a:tcPr marL="72522" marR="72522" marT="36261" marB="36261" anchor="ctr"/>
                </a:tc>
                <a:extLst>
                  <a:ext uri="{0D108BD9-81ED-4DB2-BD59-A6C34878D82A}">
                    <a16:rowId xmlns:a16="http://schemas.microsoft.com/office/drawing/2014/main" val="3078409721"/>
                  </a:ext>
                </a:extLst>
              </a:tr>
              <a:tr h="31619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/>
                        <a:t>profileImage</a:t>
                      </a:r>
                    </a:p>
                  </a:txBody>
                  <a:tcPr marL="72522" marR="72522" marT="36261" marB="3626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/>
                        <a:t>String</a:t>
                      </a:r>
                    </a:p>
                  </a:txBody>
                  <a:tcPr marL="72522" marR="72522" marT="36261" marB="3626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/>
                        <a:t>Cloudinary image URL</a:t>
                      </a:r>
                    </a:p>
                  </a:txBody>
                  <a:tcPr marL="72522" marR="72522" marT="36261" marB="36261" anchor="ctr"/>
                </a:tc>
                <a:extLst>
                  <a:ext uri="{0D108BD9-81ED-4DB2-BD59-A6C34878D82A}">
                    <a16:rowId xmlns:a16="http://schemas.microsoft.com/office/drawing/2014/main" val="1977907302"/>
                  </a:ext>
                </a:extLst>
              </a:tr>
              <a:tr h="31619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/>
                        <a:t>profileImageId</a:t>
                      </a:r>
                    </a:p>
                  </a:txBody>
                  <a:tcPr marL="72522" marR="72522" marT="36261" marB="3626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/>
                        <a:t>String</a:t>
                      </a:r>
                    </a:p>
                  </a:txBody>
                  <a:tcPr marL="72522" marR="72522" marT="36261" marB="3626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/>
                        <a:t>Cloudinary public ID</a:t>
                      </a:r>
                    </a:p>
                  </a:txBody>
                  <a:tcPr marL="72522" marR="72522" marT="36261" marB="36261" anchor="ctr"/>
                </a:tc>
                <a:extLst>
                  <a:ext uri="{0D108BD9-81ED-4DB2-BD59-A6C34878D82A}">
                    <a16:rowId xmlns:a16="http://schemas.microsoft.com/office/drawing/2014/main" val="2557520803"/>
                  </a:ext>
                </a:extLst>
              </a:tr>
              <a:tr h="31619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/>
                        <a:t>createdAt</a:t>
                      </a:r>
                    </a:p>
                  </a:txBody>
                  <a:tcPr marL="72522" marR="72522" marT="36261" marB="3626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/>
                        <a:t>Date</a:t>
                      </a:r>
                    </a:p>
                  </a:txBody>
                  <a:tcPr marL="72522" marR="72522" marT="36261" marB="3626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/>
                        <a:t>Account creation date</a:t>
                      </a:r>
                    </a:p>
                  </a:txBody>
                  <a:tcPr marL="72522" marR="72522" marT="36261" marB="36261" anchor="ctr"/>
                </a:tc>
                <a:extLst>
                  <a:ext uri="{0D108BD9-81ED-4DB2-BD59-A6C34878D82A}">
                    <a16:rowId xmlns:a16="http://schemas.microsoft.com/office/drawing/2014/main" val="1854980853"/>
                  </a:ext>
                </a:extLst>
              </a:tr>
              <a:tr h="31619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/>
                        <a:t>updatedAt</a:t>
                      </a:r>
                    </a:p>
                  </a:txBody>
                  <a:tcPr marL="72522" marR="72522" marT="36261" marB="3626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/>
                        <a:t>Date</a:t>
                      </a:r>
                    </a:p>
                  </a:txBody>
                  <a:tcPr marL="72522" marR="72522" marT="36261" marB="3626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/>
                        <a:t>Last update date</a:t>
                      </a:r>
                    </a:p>
                  </a:txBody>
                  <a:tcPr marL="72522" marR="72522" marT="36261" marB="36261" anchor="ctr"/>
                </a:tc>
                <a:extLst>
                  <a:ext uri="{0D108BD9-81ED-4DB2-BD59-A6C34878D82A}">
                    <a16:rowId xmlns:a16="http://schemas.microsoft.com/office/drawing/2014/main" val="22424524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392535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A39A7-E658-A9C6-7AEC-903B82AAED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DF2760A-0527-4411-9D39-69786B5EAE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188BD92-A2C3-6303-B030-6D9F037E0D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2189186"/>
              </p:ext>
            </p:extLst>
          </p:nvPr>
        </p:nvGraphicFramePr>
        <p:xfrm>
          <a:off x="763929" y="1709909"/>
          <a:ext cx="10589871" cy="3336654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3529957">
                  <a:extLst>
                    <a:ext uri="{9D8B030D-6E8A-4147-A177-3AD203B41FA5}">
                      <a16:colId xmlns:a16="http://schemas.microsoft.com/office/drawing/2014/main" val="310602009"/>
                    </a:ext>
                  </a:extLst>
                </a:gridCol>
                <a:gridCol w="3529957">
                  <a:extLst>
                    <a:ext uri="{9D8B030D-6E8A-4147-A177-3AD203B41FA5}">
                      <a16:colId xmlns:a16="http://schemas.microsoft.com/office/drawing/2014/main" val="335219738"/>
                    </a:ext>
                  </a:extLst>
                </a:gridCol>
                <a:gridCol w="3529957">
                  <a:extLst>
                    <a:ext uri="{9D8B030D-6E8A-4147-A177-3AD203B41FA5}">
                      <a16:colId xmlns:a16="http://schemas.microsoft.com/office/drawing/2014/main" val="1671398286"/>
                    </a:ext>
                  </a:extLst>
                </a:gridCol>
              </a:tblGrid>
              <a:tr h="4471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000" b="1" dirty="0"/>
                        <a:t>Field Name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000" b="1" dirty="0"/>
                        <a:t>Data 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000" b="1" dirty="0"/>
                        <a:t>Description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9532917"/>
                  </a:ext>
                </a:extLst>
              </a:tr>
              <a:tr h="41278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_id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ObjectId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Unique report ID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79762422"/>
                  </a:ext>
                </a:extLst>
              </a:tr>
              <a:tr h="41278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title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String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Issue title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7278315"/>
                  </a:ext>
                </a:extLst>
              </a:tr>
              <a:tr h="41278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description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String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Issue description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4513130"/>
                  </a:ext>
                </a:extLst>
              </a:tr>
              <a:tr h="41278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userEmail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String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User email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104352"/>
                  </a:ext>
                </a:extLst>
              </a:tr>
              <a:tr h="41278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username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String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User name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55599197"/>
                  </a:ext>
                </a:extLst>
              </a:tr>
              <a:tr h="41278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createdAt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Date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Report created date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48821564"/>
                  </a:ext>
                </a:extLst>
              </a:tr>
              <a:tr h="41278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updatedAt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Date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Last updated date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47415567"/>
                  </a:ext>
                </a:extLst>
              </a:tr>
            </a:tbl>
          </a:graphicData>
        </a:graphic>
      </p:graphicFrame>
      <p:sp>
        <p:nvSpPr>
          <p:cNvPr id="5" name="TextShape 1">
            <a:extLst>
              <a:ext uri="{FF2B5EF4-FFF2-40B4-BE49-F238E27FC236}">
                <a16:creationId xmlns:a16="http://schemas.microsoft.com/office/drawing/2014/main" id="{4733A227-B101-CA24-B262-85E25AA5C9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814709" y="156133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3000" dirty="0">
                <a:solidFill>
                  <a:srgbClr val="4C4C4C"/>
                </a:solidFill>
              </a:rPr>
              <a:t>Collection: Reports</a:t>
            </a:r>
          </a:p>
        </p:txBody>
      </p:sp>
    </p:spTree>
    <p:extLst>
      <p:ext uri="{BB962C8B-B14F-4D97-AF65-F5344CB8AC3E}">
        <p14:creationId xmlns:p14="http://schemas.microsoft.com/office/powerpoint/2010/main" val="41670032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5A2BDE-8BC7-97BE-3DF1-A3563701EA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F49F572-9C91-06C6-C387-98C53E3972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Shape 1">
            <a:extLst>
              <a:ext uri="{FF2B5EF4-FFF2-40B4-BE49-F238E27FC236}">
                <a16:creationId xmlns:a16="http://schemas.microsoft.com/office/drawing/2014/main" id="{1A8389FA-7568-A5E0-B650-434E69A82E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548492" y="376051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3000" dirty="0">
                <a:solidFill>
                  <a:srgbClr val="4C4C4C"/>
                </a:solidFill>
              </a:rPr>
              <a:t>Collection: Watchlists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9410BE56-3627-1249-646F-17220F6931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8272178"/>
              </p:ext>
            </p:extLst>
          </p:nvPr>
        </p:nvGraphicFramePr>
        <p:xfrm>
          <a:off x="838200" y="1794076"/>
          <a:ext cx="10515600" cy="3449255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2180777297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93536210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4550229"/>
                    </a:ext>
                  </a:extLst>
                </a:gridCol>
              </a:tblGrid>
              <a:tr h="46227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000" b="1" dirty="0"/>
                        <a:t>Field Name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000" b="1"/>
                        <a:t>Data 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000" b="1" dirty="0"/>
                        <a:t>Description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4414279"/>
                  </a:ext>
                </a:extLst>
              </a:tr>
              <a:tr h="42671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_id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ObjectId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Unique ID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14737562"/>
                  </a:ext>
                </a:extLst>
              </a:tr>
              <a:tr h="42671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email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String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User email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44098047"/>
                  </a:ext>
                </a:extLst>
              </a:tr>
              <a:tr h="42671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itemCode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String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Asset code (IPO/Stock)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8540491"/>
                  </a:ext>
                </a:extLst>
              </a:tr>
              <a:tr h="42671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itemName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String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Asset name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13874746"/>
                  </a:ext>
                </a:extLst>
              </a:tr>
              <a:tr h="42671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String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Type (IPO / Stock / SIP)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82248034"/>
                  </a:ext>
                </a:extLst>
              </a:tr>
              <a:tr h="42671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createdAt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Date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Added date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494314"/>
                  </a:ext>
                </a:extLst>
              </a:tr>
              <a:tr h="42671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updatedAt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Date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Last updated date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881517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13209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72FBD7-9DF7-9589-4265-B527E437F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3D27D96-5469-32D2-4FBC-8CA02D9239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Shape 1">
            <a:extLst>
              <a:ext uri="{FF2B5EF4-FFF2-40B4-BE49-F238E27FC236}">
                <a16:creationId xmlns:a16="http://schemas.microsoft.com/office/drawing/2014/main" id="{0B6AC916-659C-363B-01DC-3635AF17E6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-992907" y="-63790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4000" dirty="0">
                <a:solidFill>
                  <a:srgbClr val="4C4C4C"/>
                </a:solidFill>
              </a:rPr>
              <a:t>File System: (Client)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08B9283-3B94-26D9-3EA0-86E0946A82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803" y="1006997"/>
            <a:ext cx="11204293" cy="4988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78118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34F693-E75E-AF81-9E84-F98F7404B9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DBE0030-E270-11D7-1390-93309EF9A8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Shape 1">
            <a:extLst>
              <a:ext uri="{FF2B5EF4-FFF2-40B4-BE49-F238E27FC236}">
                <a16:creationId xmlns:a16="http://schemas.microsoft.com/office/drawing/2014/main" id="{441B46EB-5006-B067-7AAB-F57A7C6D8F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-935032" y="-63790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4000" dirty="0">
                <a:solidFill>
                  <a:srgbClr val="4C4C4C"/>
                </a:solidFill>
              </a:rPr>
              <a:t>File System: (Server)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3945B06-CF04-0FE3-3B86-9DB9CF5001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227" y="1079210"/>
            <a:ext cx="11111697" cy="4881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75600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8B45EB-44F0-DBA4-4163-028477E93A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0080B32-5742-4AA6-BAAC-27672E0D91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Shape 1">
            <a:extLst>
              <a:ext uri="{FF2B5EF4-FFF2-40B4-BE49-F238E27FC236}">
                <a16:creationId xmlns:a16="http://schemas.microsoft.com/office/drawing/2014/main" id="{AB8BD00D-55FF-5F4F-0409-6DCAFB0688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-935032" y="-63790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4000" dirty="0">
                <a:solidFill>
                  <a:srgbClr val="4C4C4C"/>
                </a:solidFill>
              </a:rPr>
              <a:t>Use Case Diagram: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E28DE20-CBC1-F30A-A126-C308C9FA9D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295" y="879676"/>
            <a:ext cx="10069975" cy="5023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31176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4F8C81-3957-422A-B579-29D742F408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F3F4327-4EE4-EF5E-AFCA-E3FCD7BB43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Shape 1">
            <a:extLst>
              <a:ext uri="{FF2B5EF4-FFF2-40B4-BE49-F238E27FC236}">
                <a16:creationId xmlns:a16="http://schemas.microsoft.com/office/drawing/2014/main" id="{9E34E524-3DCB-ACE5-F16E-54282DB5DB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-935032" y="-63790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4000" dirty="0">
                <a:solidFill>
                  <a:srgbClr val="4C4C4C"/>
                </a:solidFill>
              </a:rPr>
              <a:t>Class Diagram: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57C1C83-C629-B1E1-29BE-46D09589DB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1717" y="870934"/>
            <a:ext cx="8584556" cy="5032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2329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21D67C-83A6-DC19-2F53-080B7C2A24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68294E39-8780-AB8F-8A20-B86B8D4FB4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Shape 1">
            <a:extLst>
              <a:ext uri="{FF2B5EF4-FFF2-40B4-BE49-F238E27FC236}">
                <a16:creationId xmlns:a16="http://schemas.microsoft.com/office/drawing/2014/main" id="{B4C962F9-6599-02CB-9434-A06D79D87B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-935032" y="-63790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4000" dirty="0">
                <a:solidFill>
                  <a:srgbClr val="4C4C4C"/>
                </a:solidFill>
              </a:rPr>
              <a:t>Interaction Diagram: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CEE4CA-6A65-006D-9C26-EB76A6E26D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9124" y="983848"/>
            <a:ext cx="10023676" cy="4988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42971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092A49-914D-29F2-B2A2-C24FB7C69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30F7257-6555-045B-2FD4-103FA13F5B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Shape 1">
            <a:extLst>
              <a:ext uri="{FF2B5EF4-FFF2-40B4-BE49-F238E27FC236}">
                <a16:creationId xmlns:a16="http://schemas.microsoft.com/office/drawing/2014/main" id="{DAD16606-5F17-94DA-C221-18E66C141F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-935032" y="-63790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4000" dirty="0">
                <a:solidFill>
                  <a:srgbClr val="4C4C4C"/>
                </a:solidFill>
              </a:rPr>
              <a:t>Activity Diagram: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015E053-4C38-9281-E2BB-497D678531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9433" y="941577"/>
            <a:ext cx="9306046" cy="4984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21031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2864C3-796C-EDD6-1769-587F7BB05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0FC5267-7769-E9C9-9E16-A3DD15ED52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Shape 1">
            <a:extLst>
              <a:ext uri="{FF2B5EF4-FFF2-40B4-BE49-F238E27FC236}">
                <a16:creationId xmlns:a16="http://schemas.microsoft.com/office/drawing/2014/main" id="{61D750CB-EED4-6601-B9AE-5B90C7CFD3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895729" y="-98515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4000" dirty="0">
                <a:solidFill>
                  <a:srgbClr val="4C4C4C"/>
                </a:solidFill>
              </a:rPr>
              <a:t>Data Dictionary: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8318BF-D478-8F5D-BD11-F5D581DAF5FF}"/>
              </a:ext>
            </a:extLst>
          </p:cNvPr>
          <p:cNvSpPr txBox="1"/>
          <p:nvPr/>
        </p:nvSpPr>
        <p:spPr>
          <a:xfrm>
            <a:off x="254644" y="973200"/>
            <a:ext cx="12191999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🔹 </a:t>
            </a:r>
            <a:r>
              <a:rPr lang="en-US" b="1" dirty="0"/>
              <a:t>1. User Collection</a:t>
            </a:r>
            <a:br>
              <a:rPr lang="en-US" dirty="0"/>
            </a:br>
            <a:r>
              <a:rPr lang="en-US" dirty="0"/>
              <a:t>Stores user account details like name, email, encrypted password, and profile image (Cloudinary).</a:t>
            </a:r>
            <a:br>
              <a:rPr lang="en-US" dirty="0"/>
            </a:br>
            <a:r>
              <a:rPr lang="en-US" dirty="0"/>
              <a:t>Used for authentication, authorization, and maintaining user identity in the system.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🔹 </a:t>
            </a:r>
            <a:r>
              <a:rPr lang="en-US" b="1" dirty="0"/>
              <a:t>2. Investment Collection</a:t>
            </a:r>
            <a:br>
              <a:rPr lang="en-US" dirty="0"/>
            </a:br>
            <a:r>
              <a:rPr lang="en-US" dirty="0"/>
              <a:t>Tracks all user investments including IPO, Stock, and SIP with amount and timestamps.</a:t>
            </a:r>
            <a:br>
              <a:rPr lang="en-US" dirty="0"/>
            </a:br>
            <a:r>
              <a:rPr lang="en-US" dirty="0"/>
              <a:t>Helps users manage and monitor their portfolio in a centralized dashboard.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🔹 </a:t>
            </a:r>
            <a:r>
              <a:rPr lang="en-US" b="1" dirty="0"/>
              <a:t>3. Watchlist Collection</a:t>
            </a:r>
            <a:br>
              <a:rPr lang="en-US" dirty="0"/>
            </a:br>
            <a:r>
              <a:rPr lang="en-US" dirty="0"/>
              <a:t>Stores assets that users want to track for future investment decisions.</a:t>
            </a:r>
            <a:br>
              <a:rPr lang="en-US" dirty="0"/>
            </a:br>
            <a:r>
              <a:rPr lang="en-US" dirty="0"/>
              <a:t>Allows easy monitoring of IPOs, stocks, and SIPs without investing.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🔹 </a:t>
            </a:r>
            <a:r>
              <a:rPr lang="en-US" b="1" dirty="0"/>
              <a:t>4. OTP Collection</a:t>
            </a:r>
            <a:br>
              <a:rPr lang="en-US" dirty="0"/>
            </a:br>
            <a:r>
              <a:rPr lang="en-US" dirty="0"/>
              <a:t>Temporarily stores OTPs for secure authentication like login, register, and password reset.</a:t>
            </a:r>
            <a:br>
              <a:rPr lang="en-US" dirty="0"/>
            </a:br>
            <a:r>
              <a:rPr lang="en-US" dirty="0"/>
              <a:t>Each OTP is linked to email and expires after a specific time for security.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71083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A67A76-2224-6FF6-5F0B-C2A7E45537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7470043-1AFF-54A0-FE1F-95A0C5AFC4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Shape 1">
            <a:extLst>
              <a:ext uri="{FF2B5EF4-FFF2-40B4-BE49-F238E27FC236}">
                <a16:creationId xmlns:a16="http://schemas.microsoft.com/office/drawing/2014/main" id="{D32BF54E-E94E-0495-2D49-044A937709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895729" y="-98515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4000" dirty="0">
                <a:solidFill>
                  <a:srgbClr val="4C4C4C"/>
                </a:solidFill>
              </a:rPr>
              <a:t>Data Dictionary: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89C5BA-3307-9DCA-B960-EFE6E2211E00}"/>
              </a:ext>
            </a:extLst>
          </p:cNvPr>
          <p:cNvSpPr txBox="1"/>
          <p:nvPr/>
        </p:nvSpPr>
        <p:spPr>
          <a:xfrm>
            <a:off x="254644" y="973200"/>
            <a:ext cx="11937355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🔹 </a:t>
            </a:r>
            <a:r>
              <a:rPr lang="en-US" b="1" dirty="0"/>
              <a:t>5. News Collection</a:t>
            </a:r>
            <a:br>
              <a:rPr lang="en-US" dirty="0"/>
            </a:br>
            <a:r>
              <a:rPr lang="en-US" dirty="0"/>
              <a:t>Provides latest financial news, market updates, and investment-related articles.</a:t>
            </a:r>
            <a:br>
              <a:rPr lang="en-US" dirty="0"/>
            </a:br>
            <a:r>
              <a:rPr lang="en-US" dirty="0"/>
              <a:t>Helps users stay informed and make better financial decisions.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🔹 </a:t>
            </a:r>
            <a:r>
              <a:rPr lang="en-US" b="1" dirty="0"/>
              <a:t>6. IPO / Stock / SIP Data</a:t>
            </a:r>
            <a:br>
              <a:rPr lang="en-US" dirty="0"/>
            </a:br>
            <a:r>
              <a:rPr lang="en-US" dirty="0"/>
              <a:t>Stores financial market data like IPOs, stocks, and SIP details.</a:t>
            </a:r>
            <a:br>
              <a:rPr lang="en-US" dirty="0"/>
            </a:br>
            <a:r>
              <a:rPr lang="en-US" dirty="0"/>
              <a:t>Used to display insights and help users analyze and choose investments.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🔹 </a:t>
            </a:r>
            <a:r>
              <a:rPr lang="en-US" b="1" dirty="0"/>
              <a:t>7. User Reports Collection</a:t>
            </a:r>
            <a:br>
              <a:rPr lang="en-US" dirty="0"/>
            </a:br>
            <a:r>
              <a:rPr lang="en-US" dirty="0"/>
              <a:t>Stores generated reports related to user investments, performance, and portfolio analysis.</a:t>
            </a:r>
            <a:br>
              <a:rPr lang="en-US" dirty="0"/>
            </a:br>
            <a:r>
              <a:rPr lang="en-US" dirty="0"/>
              <a:t>Helps users track profit/loss, history, and make data-driven financial decisions.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🔹 </a:t>
            </a:r>
            <a:r>
              <a:rPr lang="en-US" b="1" dirty="0"/>
              <a:t>8. API Integration Layer</a:t>
            </a:r>
            <a:br>
              <a:rPr lang="en-US" dirty="0"/>
            </a:br>
            <a:r>
              <a:rPr lang="en-US" dirty="0"/>
              <a:t>Handles communication between frontend and backend using RESTful APIs.</a:t>
            </a:r>
            <a:br>
              <a:rPr lang="en-US" dirty="0"/>
            </a:br>
            <a:r>
              <a:rPr lang="en-US" dirty="0"/>
              <a:t>Fetches real-time or external data (stocks, IPO, news) and ensures smooth data flow.</a:t>
            </a:r>
          </a:p>
        </p:txBody>
      </p:sp>
    </p:spTree>
    <p:extLst>
      <p:ext uri="{BB962C8B-B14F-4D97-AF65-F5344CB8AC3E}">
        <p14:creationId xmlns:p14="http://schemas.microsoft.com/office/powerpoint/2010/main" val="2818501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2F86AC-EF63-BDDF-B7A6-3D5C7B4BF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09CCDBD-4B42-AA13-A118-DF049DFE68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Shape 1">
            <a:extLst>
              <a:ext uri="{FF2B5EF4-FFF2-40B4-BE49-F238E27FC236}">
                <a16:creationId xmlns:a16="http://schemas.microsoft.com/office/drawing/2014/main" id="{94B6AB1E-77C4-91F3-06D7-9D758B8E92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-2462890" y="-98515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4000" dirty="0">
                <a:solidFill>
                  <a:srgbClr val="4C4C4C"/>
                </a:solidFill>
              </a:rPr>
              <a:t>Screenshots:</a:t>
            </a:r>
          </a:p>
        </p:txBody>
      </p:sp>
    </p:spTree>
    <p:extLst>
      <p:ext uri="{BB962C8B-B14F-4D97-AF65-F5344CB8AC3E}">
        <p14:creationId xmlns:p14="http://schemas.microsoft.com/office/powerpoint/2010/main" val="41638433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DDD8BF-065D-AF25-4229-8D377E578E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F4BBD09-2282-FD21-8A2E-7D3EA7457B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Shape 1">
            <a:extLst>
              <a:ext uri="{FF2B5EF4-FFF2-40B4-BE49-F238E27FC236}">
                <a16:creationId xmlns:a16="http://schemas.microsoft.com/office/drawing/2014/main" id="{904F87BF-65AD-3B48-AD47-D51F85A1CE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-2462890" y="-98515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3000" dirty="0">
                <a:solidFill>
                  <a:srgbClr val="4C4C4C"/>
                </a:solidFill>
              </a:rPr>
              <a:t>Registration Page: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5791EAD-1DBA-B6A0-8FB4-F7BBB57FDF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7336" y="829559"/>
            <a:ext cx="8276734" cy="51777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06343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D0B36B-1BBD-8056-D823-D6640E763F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0A91EDC-2779-C623-A7FE-E8E6096D1E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Shape 1">
            <a:extLst>
              <a:ext uri="{FF2B5EF4-FFF2-40B4-BE49-F238E27FC236}">
                <a16:creationId xmlns:a16="http://schemas.microsoft.com/office/drawing/2014/main" id="{26816134-66BE-7564-A851-381D5E02C8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-2462890" y="-98515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3000" dirty="0">
                <a:solidFill>
                  <a:srgbClr val="4C4C4C"/>
                </a:solidFill>
              </a:rPr>
              <a:t>Login Page: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8EEF7CE-D611-8451-53C5-3FCE4BFF13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498" y="1676605"/>
            <a:ext cx="3623232" cy="352456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511AE08-D7BE-E564-9681-098482E7CE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1628" y="1676605"/>
            <a:ext cx="3337089" cy="352456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347A819-1219-7057-850E-9C1B87B225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63615" y="1676605"/>
            <a:ext cx="3431813" cy="3524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576784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624A80-FA5B-8F0D-2EF8-5C9381EE8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B9A305E-414F-2C2C-475C-AB5D5A047E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Shape 1">
            <a:extLst>
              <a:ext uri="{FF2B5EF4-FFF2-40B4-BE49-F238E27FC236}">
                <a16:creationId xmlns:a16="http://schemas.microsoft.com/office/drawing/2014/main" id="{03107CE5-5E2B-A907-654D-7E6599D513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-2462890" y="-98515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3000" dirty="0">
                <a:solidFill>
                  <a:srgbClr val="4C4C4C"/>
                </a:solidFill>
              </a:rPr>
              <a:t>  User Profile Page: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24F592E-AB23-BB61-022E-4750A645F8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2000" y="901530"/>
            <a:ext cx="8290560" cy="5052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2880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E787F8-F741-1ACC-0C6E-D466737777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E52F596-B54C-2513-72C5-3DFBFEA8A2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Shape 1">
            <a:extLst>
              <a:ext uri="{FF2B5EF4-FFF2-40B4-BE49-F238E27FC236}">
                <a16:creationId xmlns:a16="http://schemas.microsoft.com/office/drawing/2014/main" id="{3858FD2A-2E12-C575-5417-401B8786B4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-2462890" y="-98515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3000" dirty="0">
                <a:solidFill>
                  <a:srgbClr val="4C4C4C"/>
                </a:solidFill>
              </a:rPr>
              <a:t>Home Page: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E15E12E-4EA6-722F-2C2D-38800190B8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314" y="857839"/>
            <a:ext cx="10991655" cy="5175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67265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BA462-5B97-62B2-4AFF-B5688B578E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506DA00-86EA-B2F7-0E7D-3447123824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Shape 1">
            <a:extLst>
              <a:ext uri="{FF2B5EF4-FFF2-40B4-BE49-F238E27FC236}">
                <a16:creationId xmlns:a16="http://schemas.microsoft.com/office/drawing/2014/main" id="{5E07D781-6479-DA7A-45D9-0EDEF32331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-2462890" y="-98515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3000" dirty="0">
                <a:solidFill>
                  <a:srgbClr val="4C4C4C"/>
                </a:solidFill>
              </a:rPr>
              <a:t>Home Page: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0ED6BBB-399B-DD20-0368-44CE0AEDF6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6435" y="678730"/>
            <a:ext cx="7719129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526978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B84333-D3F7-BD2C-6CAA-CAA372B705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3A75480-5FBC-7697-5035-D03F1F511E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Shape 1">
            <a:extLst>
              <a:ext uri="{FF2B5EF4-FFF2-40B4-BE49-F238E27FC236}">
                <a16:creationId xmlns:a16="http://schemas.microsoft.com/office/drawing/2014/main" id="{2F108AC4-6563-79F7-A1C0-CF681462B2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-2462890" y="-98515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3000" dirty="0">
                <a:solidFill>
                  <a:srgbClr val="4C4C4C"/>
                </a:solidFill>
              </a:rPr>
              <a:t>Home Page: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A8BF823-9C92-E52B-18D0-34B87DB5DE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657" y="963438"/>
            <a:ext cx="5901181" cy="493112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A06814E-DF5D-12CC-A919-349EC58905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2346" y="963438"/>
            <a:ext cx="2419688" cy="228631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5CCF337-E1E2-548E-D46D-68F083641D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22346" y="3429000"/>
            <a:ext cx="2419688" cy="2465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293400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5EE829-3E71-4FBE-6763-61AF69019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1875EDB-FE7D-8423-8D55-47F1F3E921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Shape 1">
            <a:extLst>
              <a:ext uri="{FF2B5EF4-FFF2-40B4-BE49-F238E27FC236}">
                <a16:creationId xmlns:a16="http://schemas.microsoft.com/office/drawing/2014/main" id="{7CC5D09F-F8DF-A955-F08D-EA9F0CCFA6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-2462890" y="-98515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3000" dirty="0">
                <a:solidFill>
                  <a:srgbClr val="4C4C4C"/>
                </a:solidFill>
              </a:rPr>
              <a:t>SIP Page: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ED1422C-72C3-572B-E16E-A581DF885B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897" y="963560"/>
            <a:ext cx="5742157" cy="491613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536713D-7917-F5BB-A20F-60C53143F5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1" y="963561"/>
            <a:ext cx="5900178" cy="4916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875735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050191-4F54-1278-6BEE-BD677A9E10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2EFCFBD-0D0C-7346-05EB-95EE6362D4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Shape 1">
            <a:extLst>
              <a:ext uri="{FF2B5EF4-FFF2-40B4-BE49-F238E27FC236}">
                <a16:creationId xmlns:a16="http://schemas.microsoft.com/office/drawing/2014/main" id="{134C28B1-6A1F-FFBF-4BE6-EC6DF9831E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-2462890" y="-98515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3000" dirty="0">
                <a:solidFill>
                  <a:srgbClr val="4C4C4C"/>
                </a:solidFill>
              </a:rPr>
              <a:t>SIP Page: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56BE9C7-C236-C44E-4EE6-31DDE79F03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270" y="970960"/>
            <a:ext cx="5971698" cy="493964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8748F22-51F6-F308-0315-A9BCBB4BB2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2788" y="970960"/>
            <a:ext cx="5731027" cy="49581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516054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1F06EA-A03A-211B-CF03-0C82986B79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E195449-C349-DD62-9526-2C3299DABB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Shape 1">
            <a:extLst>
              <a:ext uri="{FF2B5EF4-FFF2-40B4-BE49-F238E27FC236}">
                <a16:creationId xmlns:a16="http://schemas.microsoft.com/office/drawing/2014/main" id="{EC034E6A-A44F-5DDF-A0F5-7DF138B205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-2462890" y="-98515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3000" dirty="0">
                <a:solidFill>
                  <a:srgbClr val="4C4C4C"/>
                </a:solidFill>
              </a:rPr>
              <a:t>Stock Page: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A728D00-B2EE-7CED-73A7-E153A86429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808" y="1044485"/>
            <a:ext cx="5966192" cy="480956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B8311C6-01D5-4132-2083-2A511A296C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0710" y="1044484"/>
            <a:ext cx="5662478" cy="48095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240034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0A8824-284A-3FFE-6665-050D5E3CB5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E1EAC9B-C6DC-9D92-8D0B-E4D85C668B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Shape 1">
            <a:extLst>
              <a:ext uri="{FF2B5EF4-FFF2-40B4-BE49-F238E27FC236}">
                <a16:creationId xmlns:a16="http://schemas.microsoft.com/office/drawing/2014/main" id="{F12228A8-8836-EF39-DE72-AC5D2AEA24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-2462890" y="-98515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3000" dirty="0">
                <a:solidFill>
                  <a:srgbClr val="4C4C4C"/>
                </a:solidFill>
              </a:rPr>
              <a:t>IPO Page: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2E007CA-BEF3-5F89-B835-68626006B7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283" y="952107"/>
            <a:ext cx="5766710" cy="485480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887CFF9-196A-2FB9-569F-AB5F62F762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75992" y="952106"/>
            <a:ext cx="6099743" cy="4854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261337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75113F-517D-C15D-C674-2570FB1A3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904BD61-9740-5546-25D3-D49698A62B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Shape 1">
            <a:extLst>
              <a:ext uri="{FF2B5EF4-FFF2-40B4-BE49-F238E27FC236}">
                <a16:creationId xmlns:a16="http://schemas.microsoft.com/office/drawing/2014/main" id="{FCACDF15-0534-DDE1-B6E4-BAAFAF36A2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-2462890" y="-98515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3000" dirty="0">
                <a:solidFill>
                  <a:srgbClr val="4C4C4C"/>
                </a:solidFill>
              </a:rPr>
              <a:t>IPO Page: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FEE255F-89DF-DF5B-EC2A-AD608CFAD5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8245" y="942678"/>
            <a:ext cx="5789783" cy="498678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7BCADD9-BBBB-807A-78BF-4465CD11B3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14" y="942678"/>
            <a:ext cx="6020587" cy="49867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555952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22725F-BB06-EE08-353E-16BA55387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5C8A026-40A1-96D1-A398-5524683741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Shape 1">
            <a:extLst>
              <a:ext uri="{FF2B5EF4-FFF2-40B4-BE49-F238E27FC236}">
                <a16:creationId xmlns:a16="http://schemas.microsoft.com/office/drawing/2014/main" id="{44420221-B89B-35E7-50DD-1BBA4BEABD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-2462890" y="-98515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3000" dirty="0">
                <a:solidFill>
                  <a:srgbClr val="4C4C4C"/>
                </a:solidFill>
              </a:rPr>
              <a:t>Stock Page: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50EA402-ADCE-7702-1456-6591E796A4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223" y="995939"/>
            <a:ext cx="5876777" cy="486612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2AEFD07-44E6-6F15-8CC9-CBF8C5E55E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55" y="995939"/>
            <a:ext cx="5798608" cy="4866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349256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C3EF4A-9DDF-CAE0-5C2C-8D423BD00A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58D8F57-C5B8-32A0-0178-B5BF447FE4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Shape 1">
            <a:extLst>
              <a:ext uri="{FF2B5EF4-FFF2-40B4-BE49-F238E27FC236}">
                <a16:creationId xmlns:a16="http://schemas.microsoft.com/office/drawing/2014/main" id="{1ADEA42F-C2FF-1A45-A1CB-FA970F4BE4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-2462890" y="-98515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2500" dirty="0">
                <a:solidFill>
                  <a:srgbClr val="4C4C4C"/>
                </a:solidFill>
              </a:rPr>
              <a:t>		Watchlist Page: (Stock Watchlist)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0DDD54D-08C2-3FAC-3F78-9A26CE4AF3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350" y="1044485"/>
            <a:ext cx="10357299" cy="475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68573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EBAB79-5446-6668-50A0-E7F4F8591D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6922983-A036-D886-A199-20233E11F5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Shape 1">
            <a:extLst>
              <a:ext uri="{FF2B5EF4-FFF2-40B4-BE49-F238E27FC236}">
                <a16:creationId xmlns:a16="http://schemas.microsoft.com/office/drawing/2014/main" id="{CF24747F-B7E3-E0D5-488A-F372921DE6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-2462890" y="-98515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2500" dirty="0">
                <a:solidFill>
                  <a:srgbClr val="4C4C4C"/>
                </a:solidFill>
              </a:rPr>
              <a:t>		Watchlist Page: (SIP Watchlist)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824089B-47DA-5347-8A24-D0E3FD6CC3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3131" y="895546"/>
            <a:ext cx="7767686" cy="5005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438806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A14718-0AB4-5426-1A7C-8AF73C43F2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024B6A7-4EC1-FE61-D0C5-1D5E254127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Shape 1">
            <a:extLst>
              <a:ext uri="{FF2B5EF4-FFF2-40B4-BE49-F238E27FC236}">
                <a16:creationId xmlns:a16="http://schemas.microsoft.com/office/drawing/2014/main" id="{8662C3B7-E5CE-63B7-4811-2933B8542D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-2462890" y="-98515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2500" dirty="0">
                <a:solidFill>
                  <a:srgbClr val="4C4C4C"/>
                </a:solidFill>
              </a:rPr>
              <a:t>		Watchlist Page: (IPO Watchlist)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5B6AD6E-5DE8-5629-6127-FE07173334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2680" y="1044485"/>
            <a:ext cx="10048974" cy="48378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674815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7E0DB-7C7E-2DF7-D5EF-9E27D508BC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4A90048-58AA-0272-3EC9-2EBF40490F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Shape 1">
            <a:extLst>
              <a:ext uri="{FF2B5EF4-FFF2-40B4-BE49-F238E27FC236}">
                <a16:creationId xmlns:a16="http://schemas.microsoft.com/office/drawing/2014/main" id="{15B65B00-C824-7EAF-8D04-A92052BCDC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-2462890" y="-98515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2500" dirty="0">
                <a:solidFill>
                  <a:srgbClr val="4C4C4C"/>
                </a:solidFill>
              </a:rPr>
              <a:t>Market News Page: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645F72D-119A-342E-EC10-94EF48554B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3131" y="1051555"/>
            <a:ext cx="5935744" cy="468512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48A82AD-891B-BA67-D7CB-681D9BFE1D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121" y="1051555"/>
            <a:ext cx="5982880" cy="4685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640908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CFC664-BA91-EEFB-D1CA-1EE72F3B7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5B25632-7068-14EE-2F6A-07C65367CF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Shape 1">
            <a:extLst>
              <a:ext uri="{FF2B5EF4-FFF2-40B4-BE49-F238E27FC236}">
                <a16:creationId xmlns:a16="http://schemas.microsoft.com/office/drawing/2014/main" id="{3F0DF3D8-FCDE-AF37-D635-FF0EE6E30F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-2462890" y="-98515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2500" dirty="0">
                <a:solidFill>
                  <a:srgbClr val="4C4C4C"/>
                </a:solidFill>
              </a:rPr>
              <a:t>Reference: </a:t>
            </a:r>
          </a:p>
        </p:txBody>
      </p:sp>
    </p:spTree>
    <p:extLst>
      <p:ext uri="{BB962C8B-B14F-4D97-AF65-F5344CB8AC3E}">
        <p14:creationId xmlns:p14="http://schemas.microsoft.com/office/powerpoint/2010/main" val="6586218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172</TotalTime>
  <Words>1137</Words>
  <Application>Microsoft Office PowerPoint</Application>
  <PresentationFormat>Widescreen</PresentationFormat>
  <Paragraphs>248</Paragraphs>
  <Slides>35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0" baseType="lpstr">
      <vt:lpstr>Arial</vt:lpstr>
      <vt:lpstr>Calibri</vt:lpstr>
      <vt:lpstr>Calibri Light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Anant soni</dc:creator>
  <cp:lastModifiedBy>Anant soni</cp:lastModifiedBy>
  <cp:revision>23</cp:revision>
  <dcterms:created xsi:type="dcterms:W3CDTF">2026-03-30T09:50:27Z</dcterms:created>
  <dcterms:modified xsi:type="dcterms:W3CDTF">2026-03-30T19:10:44Z</dcterms:modified>
</cp:coreProperties>
</file>